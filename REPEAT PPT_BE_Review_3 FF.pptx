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21"/>
  </p:notesMasterIdLst>
  <p:sldIdLst>
    <p:sldId id="256" r:id="rId3"/>
    <p:sldId id="272" r:id="rId4"/>
    <p:sldId id="257" r:id="rId5"/>
    <p:sldId id="258" r:id="rId6"/>
    <p:sldId id="259" r:id="rId7"/>
    <p:sldId id="260" r:id="rId8"/>
    <p:sldId id="261" r:id="rId9"/>
    <p:sldId id="271" r:id="rId10"/>
    <p:sldId id="263" r:id="rId11"/>
    <p:sldId id="269" r:id="rId12"/>
    <p:sldId id="270" r:id="rId13"/>
    <p:sldId id="273" r:id="rId14"/>
    <p:sldId id="274" r:id="rId15"/>
    <p:sldId id="275" r:id="rId16"/>
    <p:sldId id="276" r:id="rId17"/>
    <p:sldId id="266" r:id="rId18"/>
    <p:sldId id="265" r:id="rId19"/>
    <p:sldId id="267" r:id="rId2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55854-590A-407E-8084-8C4BEE65D15B}" v="12" dt="2025-10-09T04:48:59.333"/>
    <p1510:client id="{95E98447-C1E3-4830-8FA5-EDB3B4A58397}" v="15" dt="2025-10-08T09:23:04.765"/>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47" d="100"/>
          <a:sy n="47" d="100"/>
        </p:scale>
        <p:origin x="1042" y="29"/>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198220-E623-42DE-9477-0AA64A9985AC}" type="datetimeFigureOut">
              <a:rPr lang="en-US" smtClean="0"/>
              <a:pPr/>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3A6FDB-6C5C-4E0D-AD23-019A01B5B039}" type="slidenum">
              <a:rPr lang="en-US" smtClean="0"/>
              <a:pPr/>
              <a:t>‹#›</a:t>
            </a:fld>
            <a:endParaRPr lang="en-US"/>
          </a:p>
        </p:txBody>
      </p:sp>
    </p:spTree>
    <p:extLst>
      <p:ext uri="{BB962C8B-B14F-4D97-AF65-F5344CB8AC3E}">
        <p14:creationId xmlns:p14="http://schemas.microsoft.com/office/powerpoint/2010/main" val="3499352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3A6FDB-6C5C-4E0D-AD23-019A01B5B039}" type="slidenum">
              <a:rPr lang="en-US" smtClean="0"/>
              <a:pPr/>
              <a:t>1</a:t>
            </a:fld>
            <a:endParaRPr lang="en-US"/>
          </a:p>
        </p:txBody>
      </p:sp>
    </p:spTree>
    <p:extLst>
      <p:ext uri="{BB962C8B-B14F-4D97-AF65-F5344CB8AC3E}">
        <p14:creationId xmlns:p14="http://schemas.microsoft.com/office/powerpoint/2010/main" val="2665772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0677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8338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04719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05169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0278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242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911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2173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1884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84922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2923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5ADC-E982-D368-18D8-FA73B566F6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8B29BC-3176-A4FC-89FA-76626120F5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B8AB5F-67D3-3B8A-DFF1-D4BF75E844C4}"/>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5" name="Footer Placeholder 4">
            <a:extLst>
              <a:ext uri="{FF2B5EF4-FFF2-40B4-BE49-F238E27FC236}">
                <a16:creationId xmlns:a16="http://schemas.microsoft.com/office/drawing/2014/main" id="{3850866F-FEC9-E871-4D4C-41E379D63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3C2B3-1866-F49A-C3FA-6B206CAA278E}"/>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4073192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37F5E-7044-F6A5-04CA-627104BB5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7AFC9D-986E-A479-6408-F85DEE283F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A827BD-4602-5958-7BB4-4BC32485270C}"/>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5" name="Footer Placeholder 4">
            <a:extLst>
              <a:ext uri="{FF2B5EF4-FFF2-40B4-BE49-F238E27FC236}">
                <a16:creationId xmlns:a16="http://schemas.microsoft.com/office/drawing/2014/main" id="{4902F22B-5188-1F32-BAF1-76754EF1F4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B59C4-C819-C845-8B61-B9C9A1C28486}"/>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3588157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7535-C713-92B5-0D54-7CCAF42D98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DA07EB-DA43-DF26-156D-6732FD2420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B2E5CB-6FB0-7FC8-F973-CF6DD682456B}"/>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5" name="Footer Placeholder 4">
            <a:extLst>
              <a:ext uri="{FF2B5EF4-FFF2-40B4-BE49-F238E27FC236}">
                <a16:creationId xmlns:a16="http://schemas.microsoft.com/office/drawing/2014/main" id="{304D90E9-DAF0-4C22-3B62-0132E0C4F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FE825-4366-DDFB-56E8-FE5F68778AD0}"/>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1212240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89DB1-4A49-5D10-3614-88ECE1CD0F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5D9B0-24D3-620D-1AE5-6BB9F31F4B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449F01-100D-29C4-B0B8-2C12A306CF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104F0F-15A2-8ED0-4170-1514175BD8A4}"/>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6" name="Footer Placeholder 5">
            <a:extLst>
              <a:ext uri="{FF2B5EF4-FFF2-40B4-BE49-F238E27FC236}">
                <a16:creationId xmlns:a16="http://schemas.microsoft.com/office/drawing/2014/main" id="{EDF42332-25D4-22ED-A86D-FFC1F2C79E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4C5CC0-8D58-674B-B84F-AD10CC34F53C}"/>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219067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2E9CA-8B92-9591-F915-12D2701CB8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6B2EFF-0E4D-6E88-5DF2-03CD2BFA32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D6DDD7-6708-91B5-87B9-E05D34F23F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A653E1-AF48-5197-B7E8-44DBD7659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07F2D1-78C7-D9A3-E4A0-CA938F7F0E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1F22CD-6303-0538-E404-C09507B6B5A8}"/>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8" name="Footer Placeholder 7">
            <a:extLst>
              <a:ext uri="{FF2B5EF4-FFF2-40B4-BE49-F238E27FC236}">
                <a16:creationId xmlns:a16="http://schemas.microsoft.com/office/drawing/2014/main" id="{AD5443F4-4E82-AC73-8B4C-2DA44AF108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EE4A95-9F81-E340-308E-9F721743A4BD}"/>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33140079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0E15-E556-1217-F424-B2E923ABAE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98DAA7-971F-4375-2321-A626674D4E32}"/>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4" name="Footer Placeholder 3">
            <a:extLst>
              <a:ext uri="{FF2B5EF4-FFF2-40B4-BE49-F238E27FC236}">
                <a16:creationId xmlns:a16="http://schemas.microsoft.com/office/drawing/2014/main" id="{EF1AD8BD-EC44-C801-1F3F-ECF3C1750B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284634-29EF-ADCB-6341-588DABD8AC63}"/>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41533931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773EB8-12A7-A4BC-05E5-5D5A4A9B816E}"/>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3" name="Footer Placeholder 2">
            <a:extLst>
              <a:ext uri="{FF2B5EF4-FFF2-40B4-BE49-F238E27FC236}">
                <a16:creationId xmlns:a16="http://schemas.microsoft.com/office/drawing/2014/main" id="{C0CEC27F-6C71-4BEF-03DA-E6E73EBB10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2735AE-F299-6EE6-DD72-5577BCEDCF9B}"/>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39404392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87A6-E099-9439-7C0B-87AA4C800D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721191-D2C9-72AE-8B50-DAB1FCE330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B4B500-544F-3CD4-56B4-A4B913596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2F2881-644A-426E-8B66-35DF95D796BE}"/>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6" name="Footer Placeholder 5">
            <a:extLst>
              <a:ext uri="{FF2B5EF4-FFF2-40B4-BE49-F238E27FC236}">
                <a16:creationId xmlns:a16="http://schemas.microsoft.com/office/drawing/2014/main" id="{726351D2-D247-DB3A-8E32-E654C58029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9D6B4-FFE3-5D15-E03C-FEAEBB538352}"/>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1890190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4F056-71AA-783E-5FD5-38BAC25AF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E6F54D-463D-9530-92C9-F06D05406B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D2659D-1513-C517-3F93-A4B4C887B1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B3D6B5-6536-6554-97F8-E209EBA9E04C}"/>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6" name="Footer Placeholder 5">
            <a:extLst>
              <a:ext uri="{FF2B5EF4-FFF2-40B4-BE49-F238E27FC236}">
                <a16:creationId xmlns:a16="http://schemas.microsoft.com/office/drawing/2014/main" id="{0EF4FAF5-C6EF-CDAC-3AEF-A39B1FF8C2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9B9337-B832-7E4A-CC48-4D78DD13752C}"/>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3175663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B5028-6A28-D55C-D8B6-35F66DA58C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78FED7-C554-5699-3F39-C6EE41B27B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285A76-11A3-CE82-36CD-B44C5D6F6EF4}"/>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5" name="Footer Placeholder 4">
            <a:extLst>
              <a:ext uri="{FF2B5EF4-FFF2-40B4-BE49-F238E27FC236}">
                <a16:creationId xmlns:a16="http://schemas.microsoft.com/office/drawing/2014/main" id="{A419691D-0D25-BD7C-39B3-7D29B4CE1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3C1FB-F0F7-AFD8-CFE3-B46E437EF7F4}"/>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28269993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5C0919-9F24-E3B0-0AD0-D918AAB7F8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C90102-DEE1-3D44-259D-31D57A2063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26EA9B-C1B7-CFAD-CE3B-2178757219EE}"/>
              </a:ext>
            </a:extLst>
          </p:cNvPr>
          <p:cNvSpPr>
            <a:spLocks noGrp="1"/>
          </p:cNvSpPr>
          <p:nvPr>
            <p:ph type="dt" sz="half" idx="10"/>
          </p:nvPr>
        </p:nvSpPr>
        <p:spPr/>
        <p:txBody>
          <a:bodyPr/>
          <a:lstStyle/>
          <a:p>
            <a:fld id="{77F03118-B527-49C6-8F97-1038E7879713}" type="datetimeFigureOut">
              <a:rPr lang="en-US" smtClean="0"/>
              <a:pPr/>
              <a:t>10/9/2025</a:t>
            </a:fld>
            <a:endParaRPr lang="en-US"/>
          </a:p>
        </p:txBody>
      </p:sp>
      <p:sp>
        <p:nvSpPr>
          <p:cNvPr id="5" name="Footer Placeholder 4">
            <a:extLst>
              <a:ext uri="{FF2B5EF4-FFF2-40B4-BE49-F238E27FC236}">
                <a16:creationId xmlns:a16="http://schemas.microsoft.com/office/drawing/2014/main" id="{8FED95AB-A194-DF00-0345-2E2A97E53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FBD39-0B0C-5BAF-FA0D-10E74A119433}"/>
              </a:ext>
            </a:extLst>
          </p:cNvPr>
          <p:cNvSpPr>
            <a:spLocks noGrp="1"/>
          </p:cNvSpPr>
          <p:nvPr>
            <p:ph type="sldNum" sz="quarter" idx="12"/>
          </p:nvPr>
        </p:nvSpPr>
        <p:spPr/>
        <p:txBody>
          <a:bodyPr/>
          <a:lstStyle/>
          <a:p>
            <a:fld id="{FBBB991C-7BF2-4657-A2F2-7F43AD5DBD04}" type="slidenum">
              <a:rPr lang="en-US" smtClean="0"/>
              <a:pPr/>
              <a:t>‹#›</a:t>
            </a:fld>
            <a:endParaRPr lang="en-US"/>
          </a:p>
        </p:txBody>
      </p:sp>
    </p:spTree>
    <p:extLst>
      <p:ext uri="{BB962C8B-B14F-4D97-AF65-F5344CB8AC3E}">
        <p14:creationId xmlns:p14="http://schemas.microsoft.com/office/powerpoint/2010/main" val="4137553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10/9/2025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53943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1AEAEB-D3DD-D41B-BF4F-A95A3B7F7B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DB237B-3D0D-5463-9399-A7294C6143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D3DC96-61C7-F5DB-9E80-AFFE94E80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F03118-B527-49C6-8F97-1038E7879713}" type="datetimeFigureOut">
              <a:rPr lang="en-US" smtClean="0"/>
              <a:pPr/>
              <a:t>10/9/2025</a:t>
            </a:fld>
            <a:endParaRPr lang="en-US"/>
          </a:p>
        </p:txBody>
      </p:sp>
      <p:sp>
        <p:nvSpPr>
          <p:cNvPr id="5" name="Footer Placeholder 4">
            <a:extLst>
              <a:ext uri="{FF2B5EF4-FFF2-40B4-BE49-F238E27FC236}">
                <a16:creationId xmlns:a16="http://schemas.microsoft.com/office/drawing/2014/main" id="{AA270D49-EE23-1615-C554-FB63B64847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C23752-03F5-0B2B-C211-9B0154265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BB991C-7BF2-4657-A2F2-7F43AD5DBD04}" type="slidenum">
              <a:rPr lang="en-US" smtClean="0"/>
              <a:pPr/>
              <a:t>‹#›</a:t>
            </a:fld>
            <a:endParaRPr lang="en-US"/>
          </a:p>
        </p:txBody>
      </p:sp>
      <p:pic>
        <p:nvPicPr>
          <p:cNvPr id="9" name="Picture 8">
            <a:extLst>
              <a:ext uri="{FF2B5EF4-FFF2-40B4-BE49-F238E27FC236}">
                <a16:creationId xmlns:a16="http://schemas.microsoft.com/office/drawing/2014/main" id="{31766A59-DFF6-07C8-0F5C-6DADE1D3FE8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283734" y="0"/>
            <a:ext cx="908266" cy="802105"/>
          </a:xfrm>
          <a:prstGeom prst="rect">
            <a:avLst/>
          </a:prstGeom>
        </p:spPr>
      </p:pic>
      <p:pic>
        <p:nvPicPr>
          <p:cNvPr id="12" name="Picture 11">
            <a:extLst>
              <a:ext uri="{FF2B5EF4-FFF2-40B4-BE49-F238E27FC236}">
                <a16:creationId xmlns:a16="http://schemas.microsoft.com/office/drawing/2014/main" id="{EF0AF6E9-9F79-CAFC-4639-B849BDC6949F}"/>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3096" y="5818199"/>
            <a:ext cx="3339864" cy="903275"/>
          </a:xfrm>
          <a:prstGeom prst="rect">
            <a:avLst/>
          </a:prstGeom>
        </p:spPr>
      </p:pic>
      <p:sp>
        <p:nvSpPr>
          <p:cNvPr id="13" name="TextBox 8">
            <a:extLst>
              <a:ext uri="{FF2B5EF4-FFF2-40B4-BE49-F238E27FC236}">
                <a16:creationId xmlns:a16="http://schemas.microsoft.com/office/drawing/2014/main" id="{D07232F7-5AE7-5409-518D-85D405C34C3A}"/>
              </a:ext>
            </a:extLst>
          </p:cNvPr>
          <p:cNvSpPr txBox="1"/>
          <p:nvPr userDrawn="1"/>
        </p:nvSpPr>
        <p:spPr>
          <a:xfrm>
            <a:off x="188495" y="6534607"/>
            <a:ext cx="3850105" cy="287130"/>
          </a:xfrm>
          <a:prstGeom prst="rect">
            <a:avLst/>
          </a:prstGeom>
        </p:spPr>
        <p:txBody>
          <a:bodyPr wrap="square" lIns="0" tIns="0" rIns="0" bIns="0" rtlCol="0" anchor="t">
            <a:spAutoFit/>
          </a:bodyPr>
          <a:lstStyle/>
          <a:p>
            <a:pPr algn="ctr">
              <a:lnSpc>
                <a:spcPts val="2520"/>
              </a:lnSpc>
            </a:pPr>
            <a:r>
              <a:rPr lang="en-US" sz="1500" spc="19" dirty="0" err="1">
                <a:solidFill>
                  <a:srgbClr val="7F7F7F"/>
                </a:solidFill>
                <a:latin typeface="TT Rounds Condensed"/>
                <a:ea typeface="TT Rounds Condensed"/>
                <a:cs typeface="TT Rounds Condensed"/>
                <a:sym typeface="TT Rounds Condensed"/>
              </a:rPr>
              <a:t>Varale</a:t>
            </a:r>
            <a:r>
              <a:rPr lang="en-US" sz="1500" spc="19" dirty="0">
                <a:solidFill>
                  <a:srgbClr val="7F7F7F"/>
                </a:solidFill>
                <a:latin typeface="TT Rounds Condensed"/>
                <a:ea typeface="TT Rounds Condensed"/>
                <a:cs typeface="TT Rounds Condensed"/>
                <a:sym typeface="TT Rounds Condensed"/>
              </a:rPr>
              <a:t>, Talegaon, Pune Campus </a:t>
            </a:r>
          </a:p>
        </p:txBody>
      </p:sp>
      <p:sp>
        <p:nvSpPr>
          <p:cNvPr id="14" name="TextBox 12">
            <a:extLst>
              <a:ext uri="{FF2B5EF4-FFF2-40B4-BE49-F238E27FC236}">
                <a16:creationId xmlns:a16="http://schemas.microsoft.com/office/drawing/2014/main" id="{E8E6814D-F89E-12DB-EB13-A38BE9A3C9E7}"/>
              </a:ext>
            </a:extLst>
          </p:cNvPr>
          <p:cNvSpPr txBox="1"/>
          <p:nvPr userDrawn="1"/>
        </p:nvSpPr>
        <p:spPr>
          <a:xfrm>
            <a:off x="2816898" y="6340035"/>
            <a:ext cx="6558203" cy="676275"/>
          </a:xfrm>
          <a:prstGeom prst="rect">
            <a:avLst/>
          </a:prstGeom>
        </p:spPr>
        <p:txBody>
          <a:bodyPr lIns="0" tIns="0" rIns="0" bIns="0" rtlCol="0" anchor="t">
            <a:spAutoFit/>
          </a:bodyPr>
          <a:lstStyle/>
          <a:p>
            <a:pPr algn="ctr">
              <a:lnSpc>
                <a:spcPts val="2639"/>
              </a:lnSpc>
            </a:pPr>
            <a:r>
              <a:rPr lang="en-US" sz="1800" spc="19" dirty="0">
                <a:solidFill>
                  <a:srgbClr val="000000"/>
                </a:solidFill>
                <a:latin typeface="Times New Roman" panose="02020603050405020304" pitchFamily="18" charset="0"/>
                <a:ea typeface="TT Rounds Condensed"/>
                <a:cs typeface="Times New Roman" panose="02020603050405020304" pitchFamily="18" charset="0"/>
                <a:sym typeface="TT Rounds Condensed"/>
              </a:rPr>
              <a:t>Department of Computer Engineering</a:t>
            </a:r>
          </a:p>
          <a:p>
            <a:pPr algn="ctr">
              <a:lnSpc>
                <a:spcPts val="2639"/>
              </a:lnSpc>
            </a:pPr>
            <a:endParaRPr lang="en-US" sz="2199" spc="19" dirty="0">
              <a:solidFill>
                <a:srgbClr val="000000"/>
              </a:solidFill>
              <a:latin typeface="Times New Roman" panose="02020603050405020304" pitchFamily="18" charset="0"/>
              <a:ea typeface="TT Rounds Condensed"/>
              <a:cs typeface="Times New Roman" panose="02020603050405020304" pitchFamily="18" charset="0"/>
              <a:sym typeface="TT Rounds Condensed"/>
            </a:endParaRPr>
          </a:p>
        </p:txBody>
      </p:sp>
    </p:spTree>
    <p:extLst>
      <p:ext uri="{BB962C8B-B14F-4D97-AF65-F5344CB8AC3E}">
        <p14:creationId xmlns:p14="http://schemas.microsoft.com/office/powerpoint/2010/main" val="176042900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4470">
            <a:off x="-11118" y="6353175"/>
            <a:ext cx="12214235" cy="6350"/>
            <a:chOff x="0" y="0"/>
            <a:chExt cx="24428471" cy="12700"/>
          </a:xfrm>
        </p:grpSpPr>
        <p:sp>
          <p:nvSpPr>
            <p:cNvPr id="3" name="Freeform 3"/>
            <p:cNvSpPr/>
            <p:nvPr/>
          </p:nvSpPr>
          <p:spPr>
            <a:xfrm>
              <a:off x="0" y="0"/>
              <a:ext cx="24428450" cy="12700"/>
            </a:xfrm>
            <a:custGeom>
              <a:avLst/>
              <a:gdLst/>
              <a:ahLst/>
              <a:cxnLst/>
              <a:rect l="l" t="t" r="r" b="b"/>
              <a:pathLst>
                <a:path w="24428450" h="12700">
                  <a:moveTo>
                    <a:pt x="6350" y="0"/>
                  </a:moveTo>
                  <a:lnTo>
                    <a:pt x="24422100" y="0"/>
                  </a:lnTo>
                  <a:cubicBezTo>
                    <a:pt x="24425656" y="0"/>
                    <a:pt x="24428450" y="2794"/>
                    <a:pt x="24428450" y="6350"/>
                  </a:cubicBezTo>
                  <a:cubicBezTo>
                    <a:pt x="24428450" y="9906"/>
                    <a:pt x="24425656" y="12700"/>
                    <a:pt x="24422100" y="12700"/>
                  </a:cubicBezTo>
                  <a:lnTo>
                    <a:pt x="6350" y="12700"/>
                  </a:lnTo>
                  <a:cubicBezTo>
                    <a:pt x="2794" y="12700"/>
                    <a:pt x="0" y="9906"/>
                    <a:pt x="0" y="6350"/>
                  </a:cubicBezTo>
                  <a:cubicBezTo>
                    <a:pt x="0" y="2794"/>
                    <a:pt x="2794" y="0"/>
                    <a:pt x="6350" y="0"/>
                  </a:cubicBezTo>
                  <a:close/>
                </a:path>
              </a:pathLst>
            </a:custGeom>
            <a:solidFill>
              <a:srgbClr val="2E75B5"/>
            </a:solidFill>
          </p:spPr>
          <p:txBody>
            <a:bodyPr/>
            <a:lstStyle/>
            <a:p>
              <a:endParaRPr lang="en-US"/>
            </a:p>
          </p:txBody>
        </p:sp>
      </p:grpSp>
      <p:grpSp>
        <p:nvGrpSpPr>
          <p:cNvPr id="6" name="Group 6"/>
          <p:cNvGrpSpPr/>
          <p:nvPr/>
        </p:nvGrpSpPr>
        <p:grpSpPr>
          <a:xfrm>
            <a:off x="11112" y="5701790"/>
            <a:ext cx="3838575" cy="1038225"/>
            <a:chOff x="0" y="0"/>
            <a:chExt cx="7677149" cy="2076451"/>
          </a:xfrm>
        </p:grpSpPr>
        <p:sp>
          <p:nvSpPr>
            <p:cNvPr id="7" name="Freeform 7"/>
            <p:cNvSpPr/>
            <p:nvPr/>
          </p:nvSpPr>
          <p:spPr>
            <a:xfrm>
              <a:off x="0" y="0"/>
              <a:ext cx="7677150" cy="2076450"/>
            </a:xfrm>
            <a:custGeom>
              <a:avLst/>
              <a:gdLst/>
              <a:ahLst/>
              <a:cxnLst/>
              <a:rect l="l" t="t" r="r" b="b"/>
              <a:pathLst>
                <a:path w="7677150" h="2076450">
                  <a:moveTo>
                    <a:pt x="0" y="0"/>
                  </a:moveTo>
                  <a:lnTo>
                    <a:pt x="7677150" y="0"/>
                  </a:lnTo>
                  <a:lnTo>
                    <a:pt x="7677150" y="2076450"/>
                  </a:lnTo>
                  <a:lnTo>
                    <a:pt x="0" y="2076450"/>
                  </a:lnTo>
                  <a:lnTo>
                    <a:pt x="0" y="0"/>
                  </a:lnTo>
                  <a:close/>
                </a:path>
              </a:pathLst>
            </a:custGeom>
            <a:blipFill>
              <a:blip r:embed="rId3"/>
              <a:stretch>
                <a:fillRect/>
              </a:stretch>
            </a:blipFill>
          </p:spPr>
          <p:txBody>
            <a:bodyPr/>
            <a:lstStyle/>
            <a:p>
              <a:endParaRPr lang="en-US"/>
            </a:p>
          </p:txBody>
        </p:sp>
      </p:grpSp>
      <p:sp>
        <p:nvSpPr>
          <p:cNvPr id="8" name="Freeform 8"/>
          <p:cNvSpPr/>
          <p:nvPr/>
        </p:nvSpPr>
        <p:spPr>
          <a:xfrm>
            <a:off x="11112" y="127000"/>
            <a:ext cx="1828800" cy="1320800"/>
          </a:xfrm>
          <a:custGeom>
            <a:avLst/>
            <a:gdLst/>
            <a:ahLst/>
            <a:cxnLst/>
            <a:rect l="l" t="t" r="r" b="b"/>
            <a:pathLst>
              <a:path w="1948044" h="1496533">
                <a:moveTo>
                  <a:pt x="0" y="0"/>
                </a:moveTo>
                <a:lnTo>
                  <a:pt x="1948044" y="0"/>
                </a:lnTo>
                <a:lnTo>
                  <a:pt x="1948044" y="1496533"/>
                </a:lnTo>
                <a:lnTo>
                  <a:pt x="0" y="1496533"/>
                </a:lnTo>
                <a:lnTo>
                  <a:pt x="0" y="0"/>
                </a:lnTo>
                <a:close/>
              </a:path>
            </a:pathLst>
          </a:custGeom>
          <a:blipFill>
            <a:blip r:embed="rId4"/>
            <a:stretch>
              <a:fillRect t="-10497" r="-5335" b="-26618"/>
            </a:stretch>
          </a:blipFill>
        </p:spPr>
        <p:txBody>
          <a:bodyPr/>
          <a:lstStyle/>
          <a:p>
            <a:endParaRPr lang="en-US"/>
          </a:p>
        </p:txBody>
      </p:sp>
      <p:sp>
        <p:nvSpPr>
          <p:cNvPr id="9" name="Freeform 9"/>
          <p:cNvSpPr/>
          <p:nvPr/>
        </p:nvSpPr>
        <p:spPr>
          <a:xfrm>
            <a:off x="10557215" y="107650"/>
            <a:ext cx="1611542" cy="1295399"/>
          </a:xfrm>
          <a:custGeom>
            <a:avLst/>
            <a:gdLst/>
            <a:ahLst/>
            <a:cxnLst/>
            <a:rect l="l" t="t" r="r" b="b"/>
            <a:pathLst>
              <a:path w="2194057" h="1652449">
                <a:moveTo>
                  <a:pt x="0" y="0"/>
                </a:moveTo>
                <a:lnTo>
                  <a:pt x="2194057" y="0"/>
                </a:lnTo>
                <a:lnTo>
                  <a:pt x="2194057" y="1652449"/>
                </a:lnTo>
                <a:lnTo>
                  <a:pt x="0" y="1652449"/>
                </a:lnTo>
                <a:lnTo>
                  <a:pt x="0" y="0"/>
                </a:lnTo>
                <a:close/>
              </a:path>
            </a:pathLst>
          </a:custGeom>
          <a:blipFill>
            <a:blip r:embed="rId5"/>
            <a:stretch>
              <a:fillRect l="-1230" t="-8939" b="-25469"/>
            </a:stretch>
          </a:blipFill>
        </p:spPr>
        <p:txBody>
          <a:bodyPr/>
          <a:lstStyle/>
          <a:p>
            <a:endParaRPr lang="en-US"/>
          </a:p>
        </p:txBody>
      </p:sp>
      <p:sp>
        <p:nvSpPr>
          <p:cNvPr id="10" name="TextBox 10"/>
          <p:cNvSpPr txBox="1"/>
          <p:nvPr/>
        </p:nvSpPr>
        <p:spPr>
          <a:xfrm>
            <a:off x="748319" y="6550454"/>
            <a:ext cx="2695635" cy="204415"/>
          </a:xfrm>
          <a:prstGeom prst="rect">
            <a:avLst/>
          </a:prstGeom>
        </p:spPr>
        <p:txBody>
          <a:bodyPr lIns="0" tIns="0" rIns="0" bIns="0" rtlCol="0" anchor="t">
            <a:spAutoFit/>
          </a:bodyPr>
          <a:lstStyle/>
          <a:p>
            <a:pPr algn="ctr" defTabSz="609630">
              <a:lnSpc>
                <a:spcPts val="1680"/>
              </a:lnSpc>
            </a:pPr>
            <a:r>
              <a:rPr lang="en-US" sz="1400" spc="13">
                <a:solidFill>
                  <a:srgbClr val="7F7F7F"/>
                </a:solidFill>
                <a:latin typeface="TT Rounds Condensed"/>
                <a:ea typeface="TT Rounds Condensed"/>
                <a:cs typeface="TT Rounds Condensed"/>
                <a:sym typeface="TT Rounds Condensed"/>
              </a:rPr>
              <a:t>Varale, Talegaon, Pune Campus </a:t>
            </a:r>
          </a:p>
        </p:txBody>
      </p:sp>
      <p:sp>
        <p:nvSpPr>
          <p:cNvPr id="11" name="TextBox 11"/>
          <p:cNvSpPr txBox="1"/>
          <p:nvPr/>
        </p:nvSpPr>
        <p:spPr>
          <a:xfrm>
            <a:off x="4099550" y="6386817"/>
            <a:ext cx="3992900" cy="359073"/>
          </a:xfrm>
          <a:prstGeom prst="rect">
            <a:avLst/>
          </a:prstGeom>
        </p:spPr>
        <p:txBody>
          <a:bodyPr lIns="0" tIns="0" rIns="0" bIns="0" rtlCol="0" anchor="t">
            <a:spAutoFit/>
          </a:bodyPr>
          <a:lstStyle/>
          <a:p>
            <a:pPr algn="ctr" defTabSz="609630">
              <a:lnSpc>
                <a:spcPts val="1440"/>
              </a:lnSpc>
            </a:pPr>
            <a:r>
              <a:rPr lang="en-US" sz="1200" spc="11" dirty="0">
                <a:solidFill>
                  <a:srgbClr val="000000"/>
                </a:solidFill>
                <a:latin typeface="Times New Roman" panose="02020603050405020304" pitchFamily="18" charset="0"/>
                <a:ea typeface="TT Rounds Condensed"/>
                <a:cs typeface="Times New Roman" panose="02020603050405020304" pitchFamily="18" charset="0"/>
                <a:sym typeface="TT Rounds Condensed"/>
              </a:rPr>
              <a:t>Department of computer Engineering</a:t>
            </a:r>
          </a:p>
          <a:p>
            <a:pPr algn="ctr" defTabSz="609630">
              <a:lnSpc>
                <a:spcPts val="1440"/>
              </a:lnSpc>
            </a:pPr>
            <a:endParaRPr lang="en-US" sz="1200" spc="11" dirty="0">
              <a:solidFill>
                <a:srgbClr val="000000"/>
              </a:solidFill>
              <a:latin typeface="TT Rounds Condensed"/>
              <a:ea typeface="TT Rounds Condensed"/>
              <a:cs typeface="TT Rounds Condensed"/>
              <a:sym typeface="TT Rounds Condensed"/>
            </a:endParaRPr>
          </a:p>
        </p:txBody>
      </p:sp>
      <p:sp>
        <p:nvSpPr>
          <p:cNvPr id="12" name="TextBox 12"/>
          <p:cNvSpPr txBox="1"/>
          <p:nvPr/>
        </p:nvSpPr>
        <p:spPr>
          <a:xfrm>
            <a:off x="8671550" y="6386817"/>
            <a:ext cx="2621300" cy="179536"/>
          </a:xfrm>
          <a:prstGeom prst="rect">
            <a:avLst/>
          </a:prstGeom>
        </p:spPr>
        <p:txBody>
          <a:bodyPr lIns="0" tIns="0" rIns="0" bIns="0" rtlCol="0" anchor="t">
            <a:spAutoFit/>
          </a:bodyPr>
          <a:lstStyle/>
          <a:p>
            <a:pPr algn="r" defTabSz="609630">
              <a:lnSpc>
                <a:spcPts val="1440"/>
              </a:lnSpc>
            </a:pPr>
            <a:r>
              <a:rPr lang="en-US" sz="1200" spc="11">
                <a:solidFill>
                  <a:srgbClr val="888888"/>
                </a:solidFill>
                <a:latin typeface="TT Rounds Condensed"/>
                <a:ea typeface="TT Rounds Condensed"/>
                <a:cs typeface="TT Rounds Condensed"/>
                <a:sym typeface="TT Rounds Condensed"/>
              </a:rPr>
              <a:t>1</a:t>
            </a:r>
          </a:p>
        </p:txBody>
      </p:sp>
      <p:sp>
        <p:nvSpPr>
          <p:cNvPr id="19" name="Rectangle 18"/>
          <p:cNvSpPr/>
          <p:nvPr/>
        </p:nvSpPr>
        <p:spPr>
          <a:xfrm>
            <a:off x="23243" y="0"/>
            <a:ext cx="12168756" cy="6188425"/>
          </a:xfrm>
          <a:prstGeom prst="rect">
            <a:avLst/>
          </a:prstGeom>
        </p:spPr>
        <p:txBody>
          <a:bodyPr wrap="square">
            <a:spAutoFit/>
          </a:bodyPr>
          <a:lstStyle/>
          <a:p>
            <a:pPr marL="584653" algn="ctr" defTabSz="609630">
              <a:lnSpc>
                <a:spcPct val="107000"/>
              </a:lnSpc>
              <a:spcAft>
                <a:spcPts val="533"/>
              </a:spcAft>
            </a:pPr>
            <a:endParaRPr lang="en-IN" sz="2133"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a:p>
            <a:pPr marL="584653" algn="ctr" defTabSz="609630">
              <a:lnSpc>
                <a:spcPct val="107000"/>
              </a:lnSpc>
              <a:spcAft>
                <a:spcPts val="533"/>
              </a:spcAft>
            </a:pPr>
            <a:r>
              <a:rPr lang="en-IN" sz="1867" i="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Dr.</a:t>
            </a:r>
            <a:r>
              <a:rPr lang="en-IN" sz="1867" i="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D. Y. </a:t>
            </a:r>
            <a:r>
              <a:rPr lang="en-IN" sz="1867" i="1"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Patil</a:t>
            </a:r>
            <a:r>
              <a:rPr lang="en-IN" sz="1867" i="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Educational Federation’s</a:t>
            </a:r>
          </a:p>
          <a:p>
            <a:pPr algn="ctr" defTabSz="609630">
              <a:lnSpc>
                <a:spcPct val="107000"/>
              </a:lnSpc>
              <a:spcAft>
                <a:spcPts val="533"/>
              </a:spcAft>
            </a:pPr>
            <a:r>
              <a:rPr lang="en-US" sz="2133" spc="-3" dirty="0">
                <a:solidFill>
                  <a:srgbClr val="002060"/>
                </a:solidFill>
                <a:latin typeface="Times New Roman" panose="02020603050405020304" pitchFamily="18" charset="0"/>
                <a:cs typeface="Times New Roman" panose="02020603050405020304" pitchFamily="18" charset="0"/>
              </a:rPr>
              <a:t> </a:t>
            </a:r>
            <a:r>
              <a:rPr lang="en-IN" sz="2133" b="1" dirty="0">
                <a:solidFill>
                  <a:srgbClr val="00206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DR.  D. Y.  PATIL COLLEGE OF ENGINEERING AND INNOVATION</a:t>
            </a:r>
          </a:p>
          <a:p>
            <a:pPr algn="ctr" defTabSz="609630">
              <a:lnSpc>
                <a:spcPct val="107000"/>
              </a:lnSpc>
              <a:spcAft>
                <a:spcPts val="533"/>
              </a:spcAft>
            </a:pPr>
            <a:r>
              <a:rPr lang="en-IN" sz="2133"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Department of Computer Engineering</a:t>
            </a:r>
            <a:r>
              <a:rPr lang="en-IN" sz="2133"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133"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p>
          <a:p>
            <a:pPr algn="ctr" defTabSz="609630">
              <a:lnSpc>
                <a:spcPct val="107000"/>
              </a:lnSpc>
              <a:spcAft>
                <a:spcPts val="533"/>
              </a:spcAft>
            </a:pPr>
            <a:endParaRPr lang="en-IN" sz="667"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a:p>
            <a:pPr algn="ctr" defTabSz="609630">
              <a:lnSpc>
                <a:spcPct val="107000"/>
              </a:lnSpc>
              <a:spcAft>
                <a:spcPts val="533"/>
              </a:spcAft>
            </a:pPr>
            <a:r>
              <a:rPr lang="en-IN"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Project Review III</a:t>
            </a:r>
          </a:p>
          <a:p>
            <a:pPr defTabSz="609630">
              <a:lnSpc>
                <a:spcPct val="107000"/>
              </a:lnSpc>
              <a:spcAft>
                <a:spcPts val="533"/>
              </a:spcAft>
            </a:pPr>
            <a:r>
              <a:rPr lang="en-IN"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Project Title: </a:t>
            </a:r>
            <a:r>
              <a:rPr lang="en-US" sz="2800" b="1" dirty="0">
                <a:latin typeface="Times New Roman" panose="02020603050405020304" pitchFamily="18" charset="0"/>
                <a:cs typeface="Times New Roman" panose="02020603050405020304" pitchFamily="18" charset="0"/>
              </a:rPr>
              <a:t>AI-Powered Task Scheduler for Space–Ground Computing</a:t>
            </a:r>
            <a:endParaRPr lang="en-IN" sz="2000" b="1" dirty="0">
              <a:solidFill>
                <a:prstClr val="black"/>
              </a:solidFill>
              <a:latin typeface="Times New Roman" pitchFamily="18" charset="0"/>
              <a:ea typeface="Times New Roman" panose="02020603050405020304" pitchFamily="18" charset="0"/>
              <a:cs typeface="Times New Roman" pitchFamily="18" charset="0"/>
            </a:endParaRPr>
          </a:p>
          <a:p>
            <a:pPr defTabSz="609630">
              <a:lnSpc>
                <a:spcPct val="107000"/>
              </a:lnSpc>
              <a:spcAft>
                <a:spcPts val="533"/>
              </a:spcAft>
            </a:pPr>
            <a:r>
              <a:rPr lang="en-IN" sz="2000" b="1" dirty="0">
                <a:solidFill>
                  <a:prstClr val="black"/>
                </a:solidFill>
                <a:latin typeface="Times New Roman" pitchFamily="18" charset="0"/>
                <a:ea typeface="Times New Roman" panose="02020603050405020304" pitchFamily="18" charset="0"/>
                <a:cs typeface="Times New Roman" pitchFamily="18" charset="0"/>
              </a:rPr>
              <a:t>                                   </a:t>
            </a:r>
            <a:r>
              <a:rPr lang="en-IN" sz="2400" b="1" dirty="0">
                <a:solidFill>
                  <a:prstClr val="black"/>
                </a:solidFill>
                <a:latin typeface="Times New Roman" pitchFamily="18" charset="0"/>
                <a:ea typeface="Times New Roman" panose="02020603050405020304" pitchFamily="18" charset="0"/>
                <a:cs typeface="Times New Roman" pitchFamily="18" charset="0"/>
              </a:rPr>
              <a:t>Team Members :</a:t>
            </a:r>
            <a:endParaRPr lang="en-IN" sz="2000" b="1" dirty="0">
              <a:solidFill>
                <a:prstClr val="black"/>
              </a:solidFill>
              <a:latin typeface="Times New Roman" pitchFamily="18" charset="0"/>
              <a:ea typeface="Times New Roman" panose="02020603050405020304" pitchFamily="18" charset="0"/>
              <a:cs typeface="Times New Roman" pitchFamily="18" charset="0"/>
            </a:endParaRPr>
          </a:p>
          <a:p>
            <a:pPr defTabSz="609630">
              <a:lnSpc>
                <a:spcPct val="107000"/>
              </a:lnSpc>
              <a:spcAft>
                <a:spcPts val="533"/>
              </a:spcAft>
            </a:pPr>
            <a:r>
              <a:rPr lang="en-IN" sz="2000" b="1" dirty="0">
                <a:solidFill>
                  <a:prstClr val="black"/>
                </a:solidFill>
                <a:latin typeface="Times New Roman" pitchFamily="18" charset="0"/>
                <a:ea typeface="Times New Roman" panose="02020603050405020304" pitchFamily="18" charset="0"/>
                <a:cs typeface="Times New Roman" pitchFamily="18" charset="0"/>
              </a:rPr>
              <a:t>                                                                1.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Rishikesh</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Yogesh</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Boril</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14116</a:t>
            </a:r>
          </a:p>
          <a:p>
            <a:pPr defTabSz="609630">
              <a:lnSpc>
                <a:spcPct val="107000"/>
              </a:lnSpc>
              <a:spcAft>
                <a:spcPts val="533"/>
              </a:spcAft>
            </a:pP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2.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Kundan</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Rajendra</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Chaudhari</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14118</a:t>
            </a:r>
          </a:p>
          <a:p>
            <a:pPr defTabSz="609630">
              <a:lnSpc>
                <a:spcPct val="107000"/>
              </a:lnSpc>
              <a:spcAft>
                <a:spcPts val="533"/>
              </a:spcAft>
            </a:pP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3.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Umesh</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Ravindra</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Chaudhari</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14119</a:t>
            </a:r>
          </a:p>
          <a:p>
            <a:pPr defTabSz="609630">
              <a:lnSpc>
                <a:spcPct val="107000"/>
              </a:lnSpc>
              <a:spcAft>
                <a:spcPts val="533"/>
              </a:spcAft>
            </a:pP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4. Vijay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Prashant</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Chavan</a:t>
            </a:r>
            <a:r>
              <a:rPr lang="en-IN" sz="20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14123</a:t>
            </a:r>
          </a:p>
          <a:p>
            <a:pPr defTabSz="609630">
              <a:lnSpc>
                <a:spcPct val="107000"/>
              </a:lnSpc>
              <a:spcAft>
                <a:spcPts val="533"/>
              </a:spcAft>
            </a:pPr>
            <a:r>
              <a:rPr lang="en-IN"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Guide by: </a:t>
            </a:r>
            <a:r>
              <a:rPr lang="en-IN"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Mr. Chandan Wagh </a:t>
            </a:r>
          </a:p>
          <a:p>
            <a:pPr defTabSz="609630">
              <a:lnSpc>
                <a:spcPct val="107000"/>
              </a:lnSpc>
              <a:spcAft>
                <a:spcPts val="533"/>
              </a:spcAft>
            </a:pPr>
            <a:r>
              <a:rPr lang="en-IN"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Co-Guide by: </a:t>
            </a:r>
            <a:r>
              <a:rPr lang="en-IN"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Ms. </a:t>
            </a:r>
            <a:r>
              <a:rPr lang="en-IN" sz="24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Swapnanjali</a:t>
            </a:r>
            <a:r>
              <a:rPr lang="en-IN"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P. </a:t>
            </a:r>
            <a:r>
              <a:rPr lang="en-IN" sz="24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Thorgule</a:t>
            </a:r>
            <a:endParaRPr lang="en-IN"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endParaRPr>
          </a:p>
          <a:p>
            <a:pPr defTabSz="609630">
              <a:lnSpc>
                <a:spcPct val="107000"/>
              </a:lnSpc>
              <a:spcAft>
                <a:spcPts val="533"/>
              </a:spcAft>
            </a:pPr>
            <a:endParaRPr lang="en-IN"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8169DE-57A7-588F-5715-7B3C49F0C525}"/>
              </a:ext>
            </a:extLst>
          </p:cNvPr>
          <p:cNvSpPr txBox="1"/>
          <p:nvPr/>
        </p:nvSpPr>
        <p:spPr>
          <a:xfrm>
            <a:off x="81754" y="303700"/>
            <a:ext cx="6094268" cy="707886"/>
          </a:xfrm>
          <a:prstGeom prst="rect">
            <a:avLst/>
          </a:prstGeom>
          <a:noFill/>
        </p:spPr>
        <p:txBody>
          <a:bodyPr wrap="square">
            <a:spAutoFit/>
          </a:bodyPr>
          <a:lstStyle/>
          <a:p>
            <a:pPr marL="285750" indent="-285750">
              <a:buFont typeface="Wingdings" panose="05000000000000000000" pitchFamily="2" charset="2"/>
              <a:buChar char="v"/>
            </a:pPr>
            <a:r>
              <a:rPr lang="en-US" sz="4000" b="1" dirty="0">
                <a:latin typeface="Times New Roman" panose="02020603050405020304" pitchFamily="18" charset="0"/>
                <a:cs typeface="Times New Roman" panose="02020603050405020304" pitchFamily="18" charset="0"/>
              </a:rPr>
              <a:t>Content</a:t>
            </a:r>
            <a:endParaRPr lang="en-IN" sz="4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A5AD2D7-81BB-6C0E-13EA-12C06207298D}"/>
              </a:ext>
            </a:extLst>
          </p:cNvPr>
          <p:cNvPicPr>
            <a:picLocks noChangeAspect="1"/>
          </p:cNvPicPr>
          <p:nvPr/>
        </p:nvPicPr>
        <p:blipFill>
          <a:blip r:embed="rId2"/>
          <a:stretch>
            <a:fillRect/>
          </a:stretch>
        </p:blipFill>
        <p:spPr>
          <a:xfrm>
            <a:off x="11033771" y="85609"/>
            <a:ext cx="1076475" cy="828791"/>
          </a:xfrm>
          <a:prstGeom prst="rect">
            <a:avLst/>
          </a:prstGeom>
        </p:spPr>
      </p:pic>
      <p:pic>
        <p:nvPicPr>
          <p:cNvPr id="7" name="Picture 6">
            <a:extLst>
              <a:ext uri="{FF2B5EF4-FFF2-40B4-BE49-F238E27FC236}">
                <a16:creationId xmlns:a16="http://schemas.microsoft.com/office/drawing/2014/main" id="{6AA41101-56C0-7230-4C8E-80CBAEDC75D3}"/>
              </a:ext>
            </a:extLst>
          </p:cNvPr>
          <p:cNvPicPr>
            <a:picLocks noChangeAspect="1"/>
          </p:cNvPicPr>
          <p:nvPr/>
        </p:nvPicPr>
        <p:blipFill>
          <a:blip r:embed="rId3"/>
          <a:stretch>
            <a:fillRect/>
          </a:stretch>
        </p:blipFill>
        <p:spPr>
          <a:xfrm>
            <a:off x="147822" y="5829156"/>
            <a:ext cx="3562847" cy="1028844"/>
          </a:xfrm>
          <a:prstGeom prst="rect">
            <a:avLst/>
          </a:prstGeom>
        </p:spPr>
      </p:pic>
      <p:sp>
        <p:nvSpPr>
          <p:cNvPr id="9" name="TextBox 8">
            <a:extLst>
              <a:ext uri="{FF2B5EF4-FFF2-40B4-BE49-F238E27FC236}">
                <a16:creationId xmlns:a16="http://schemas.microsoft.com/office/drawing/2014/main" id="{10A19EB2-24FF-5BDD-63E8-23D4C84DADC0}"/>
              </a:ext>
            </a:extLst>
          </p:cNvPr>
          <p:cNvSpPr txBox="1"/>
          <p:nvPr/>
        </p:nvSpPr>
        <p:spPr>
          <a:xfrm>
            <a:off x="906185" y="1150374"/>
            <a:ext cx="6120244" cy="4093428"/>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ea typeface="Arimo"/>
                <a:cs typeface="Times New Roman" panose="02020603050405020304" pitchFamily="18" charset="0"/>
                <a:sym typeface="Arimo"/>
              </a:rPr>
              <a:t>Problem Statement</a:t>
            </a:r>
          </a:p>
          <a:p>
            <a:pPr marL="285750" indent="-285750">
              <a:buFont typeface="Arial" panose="020B0604020202020204" pitchFamily="34" charset="0"/>
              <a:buChar char="•"/>
            </a:pPr>
            <a:r>
              <a:rPr lang="en-US" sz="2000" dirty="0">
                <a:latin typeface="Times New Roman" panose="02020603050405020304" pitchFamily="18" charset="0"/>
                <a:ea typeface="Arimo"/>
                <a:cs typeface="Times New Roman" panose="02020603050405020304" pitchFamily="18" charset="0"/>
                <a:sym typeface="Arimo"/>
              </a:rPr>
              <a:t>Objectives of Project</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sym typeface="Arimo Bold"/>
              </a:rPr>
              <a:t>Scope of the Project</a:t>
            </a:r>
          </a:p>
          <a:p>
            <a:pPr marL="285750" indent="-285750">
              <a:buFont typeface="Arial" panose="020B0604020202020204" pitchFamily="34" charset="0"/>
              <a:buChar char="•"/>
            </a:pPr>
            <a:r>
              <a:rPr lang="en-US" sz="2000" dirty="0">
                <a:latin typeface="Times New Roman" panose="02020603050405020304" pitchFamily="18" charset="0"/>
                <a:ea typeface="Arimo"/>
                <a:cs typeface="Times New Roman" panose="02020603050405020304" pitchFamily="18" charset="0"/>
                <a:sym typeface="Arimo"/>
              </a:rPr>
              <a:t>Literature Review</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sym typeface="Arimo Bold"/>
              </a:rPr>
              <a:t>Proposed Methodology</a:t>
            </a:r>
          </a:p>
          <a:p>
            <a:pPr marL="285750" indent="-285750">
              <a:buFont typeface="Arial" panose="020B0604020202020204" pitchFamily="34" charset="0"/>
              <a:buChar char="•"/>
            </a:pPr>
            <a:r>
              <a:rPr lang="en-US" sz="2000" dirty="0">
                <a:latin typeface="Times New Roman" panose="02020603050405020304" pitchFamily="18" charset="0"/>
                <a:ea typeface="Arimo"/>
                <a:cs typeface="Times New Roman" panose="02020603050405020304" pitchFamily="18" charset="0"/>
                <a:sym typeface="Arimo"/>
              </a:rPr>
              <a:t>System Design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Tools and Technology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Algorithm</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UML Class Diagram</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UML Sequence Diagram</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UML Use Case Diagram</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Arimo Bold"/>
                <a:cs typeface="Times New Roman" panose="02020603050405020304" pitchFamily="18" charset="0"/>
              </a:rPr>
              <a:t>References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175268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1"/>
          <p:cNvSpPr txBox="1">
            <a:spLocks noGrp="1"/>
          </p:cNvSpPr>
          <p:nvPr>
            <p:ph type="ctrTitle"/>
          </p:nvPr>
        </p:nvSpPr>
        <p:spPr>
          <a:xfrm>
            <a:off x="71100" y="304800"/>
            <a:ext cx="12120900" cy="896400"/>
          </a:xfrm>
          <a:prstGeom prst="rect">
            <a:avLst/>
          </a:prstGeom>
          <a:noFill/>
          <a:ln>
            <a:noFill/>
          </a:ln>
        </p:spPr>
        <p:txBody>
          <a:bodyPr spcFirstLastPara="1" wrap="square" lIns="91425" tIns="45700" rIns="91425" bIns="45700" anchor="b" anchorCtr="0">
            <a:normAutofit/>
          </a:bodyPr>
          <a:lstStyle/>
          <a:p>
            <a:pPr marL="571500" lvl="0" indent="-571500" algn="l" rtl="0">
              <a:lnSpc>
                <a:spcPct val="90000"/>
              </a:lnSpc>
              <a:spcBef>
                <a:spcPts val="0"/>
              </a:spcBef>
              <a:spcAft>
                <a:spcPts val="0"/>
              </a:spcAft>
              <a:buClr>
                <a:schemeClr val="dk1"/>
              </a:buClr>
              <a:buSzPts val="4000"/>
              <a:buFont typeface="Wingdings" panose="05000000000000000000" pitchFamily="2" charset="2"/>
              <a:buChar char="v"/>
            </a:pPr>
            <a:r>
              <a:rPr lang="en-US" sz="4000" b="1" dirty="0">
                <a:latin typeface="Times New Roman" panose="02020603050405020304" pitchFamily="18" charset="0"/>
                <a:ea typeface="Arimo"/>
                <a:cs typeface="Times New Roman" panose="02020603050405020304" pitchFamily="18" charset="0"/>
                <a:sym typeface="Arimo"/>
              </a:rPr>
              <a:t>Problem Statement</a:t>
            </a:r>
            <a:endParaRPr sz="4000" b="1" dirty="0">
              <a:latin typeface="Times New Roman" panose="02020603050405020304" pitchFamily="18" charset="0"/>
              <a:ea typeface="Times New Roman"/>
              <a:cs typeface="Times New Roman" panose="02020603050405020304" pitchFamily="18" charset="0"/>
              <a:sym typeface="Times New Roman"/>
            </a:endParaRPr>
          </a:p>
        </p:txBody>
      </p:sp>
      <p:sp>
        <p:nvSpPr>
          <p:cNvPr id="34" name="Google Shape;34;p1"/>
          <p:cNvSpPr txBox="1">
            <a:spLocks noGrp="1"/>
          </p:cNvSpPr>
          <p:nvPr>
            <p:ph type="subTitle" idx="1"/>
          </p:nvPr>
        </p:nvSpPr>
        <p:spPr>
          <a:xfrm>
            <a:off x="537450" y="1371944"/>
            <a:ext cx="10226400" cy="3894359"/>
          </a:xfrm>
          <a:prstGeom prst="rect">
            <a:avLst/>
          </a:prstGeom>
          <a:noFill/>
          <a:ln>
            <a:noFill/>
          </a:ln>
        </p:spPr>
        <p:txBody>
          <a:bodyPr spcFirstLastPara="1" wrap="square" lIns="91425" tIns="45700" rIns="91425" bIns="45700" anchor="ctr" anchorCtr="0">
            <a:spAutoFit/>
          </a:bodyPr>
          <a:lstStyle/>
          <a:p>
            <a:pPr marL="457200" indent="-457200" algn="l">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When satellites capture massive amounts of data in orbit, sending everything back to Earth for processing is slow, costly, and energy-</a:t>
            </a:r>
            <a:r>
              <a:rPr lang="en-US" sz="3200" dirty="0" err="1">
                <a:latin typeface="Times New Roman" panose="02020603050405020304" pitchFamily="18" charset="0"/>
                <a:cs typeface="Times New Roman" panose="02020603050405020304" pitchFamily="18" charset="0"/>
              </a:rPr>
              <a:t>intensive.But</a:t>
            </a:r>
            <a:r>
              <a:rPr lang="en-US" sz="3200" dirty="0">
                <a:latin typeface="Times New Roman" panose="02020603050405020304" pitchFamily="18" charset="0"/>
                <a:cs typeface="Times New Roman" panose="02020603050405020304" pitchFamily="18" charset="0"/>
              </a:rPr>
              <a:t> processing everything in space is also not practical because satellite power and compute are limited.</a:t>
            </a:r>
          </a:p>
          <a:p>
            <a:pPr marL="457200" indent="-457200" algn="l">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So, the big problem is : “ Where should each AI task run  in space or on the ground  to minimize cost, latency, and power?”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2"/>
          <p:cNvSpPr txBox="1">
            <a:spLocks noGrp="1"/>
          </p:cNvSpPr>
          <p:nvPr>
            <p:ph type="ctrTitle"/>
          </p:nvPr>
        </p:nvSpPr>
        <p:spPr>
          <a:xfrm>
            <a:off x="71100" y="196645"/>
            <a:ext cx="12120900" cy="896400"/>
          </a:xfrm>
          <a:prstGeom prst="rect">
            <a:avLst/>
          </a:prstGeom>
          <a:noFill/>
          <a:ln>
            <a:noFill/>
          </a:ln>
        </p:spPr>
        <p:txBody>
          <a:bodyPr spcFirstLastPara="1" wrap="square" lIns="91425" tIns="45700" rIns="91425" bIns="45700" anchor="b" anchorCtr="0">
            <a:normAutofit/>
          </a:bodyPr>
          <a:lstStyle/>
          <a:p>
            <a:pPr marL="571500" lvl="0" indent="-571500" algn="l" rtl="0">
              <a:lnSpc>
                <a:spcPct val="90000"/>
              </a:lnSpc>
              <a:spcBef>
                <a:spcPts val="0"/>
              </a:spcBef>
              <a:spcAft>
                <a:spcPts val="0"/>
              </a:spcAft>
              <a:buClr>
                <a:schemeClr val="dk1"/>
              </a:buClr>
              <a:buSzPts val="4000"/>
              <a:buFont typeface="Wingdings" panose="05000000000000000000" pitchFamily="2" charset="2"/>
              <a:buChar char="v"/>
            </a:pPr>
            <a:r>
              <a:rPr lang="en-US" sz="4000" b="1" dirty="0">
                <a:latin typeface="Times New Roman" panose="02020603050405020304" pitchFamily="18" charset="0"/>
                <a:ea typeface="Arimo"/>
                <a:cs typeface="Times New Roman" panose="02020603050405020304" pitchFamily="18" charset="0"/>
                <a:sym typeface="Arimo"/>
              </a:rPr>
              <a:t>Objectives of Project</a:t>
            </a:r>
            <a:endParaRPr sz="4000" b="1" dirty="0">
              <a:latin typeface="Times New Roman" panose="02020603050405020304" pitchFamily="18" charset="0"/>
              <a:ea typeface="Times New Roman"/>
              <a:cs typeface="Times New Roman" panose="02020603050405020304" pitchFamily="18" charset="0"/>
              <a:sym typeface="Times New Roman"/>
            </a:endParaRPr>
          </a:p>
        </p:txBody>
      </p:sp>
      <p:sp>
        <p:nvSpPr>
          <p:cNvPr id="37" name="Google Shape;37;p2"/>
          <p:cNvSpPr txBox="1">
            <a:spLocks noGrp="1"/>
          </p:cNvSpPr>
          <p:nvPr>
            <p:ph type="subTitle" idx="1"/>
          </p:nvPr>
        </p:nvSpPr>
        <p:spPr>
          <a:xfrm>
            <a:off x="537444" y="1529679"/>
            <a:ext cx="10568400" cy="4076973"/>
          </a:xfrm>
          <a:prstGeom prst="rect">
            <a:avLst/>
          </a:prstGeom>
          <a:noFill/>
          <a:ln>
            <a:noFill/>
          </a:ln>
        </p:spPr>
        <p:txBody>
          <a:bodyPr spcFirstLastPara="1" wrap="square" lIns="91425" tIns="45700" rIns="91425" bIns="45700" anchor="ctr" anchorCtr="0">
            <a:spAutoFit/>
          </a:bodyPr>
          <a:lstStyle/>
          <a:p>
            <a:pPr marL="514350" lvl="0" indent="-514350" algn="l" rtl="0">
              <a:lnSpc>
                <a:spcPct val="90000"/>
              </a:lnSpc>
              <a:spcBef>
                <a:spcPts val="0"/>
              </a:spcBef>
              <a:spcAft>
                <a:spcPts val="0"/>
              </a:spcAft>
              <a:buClr>
                <a:schemeClr val="dk1"/>
              </a:buClr>
              <a:buSzPts val="3200"/>
              <a:buNone/>
            </a:pPr>
            <a:r>
              <a:rPr lang="en-US" sz="2800" b="1" dirty="0">
                <a:latin typeface="Times New Roman"/>
                <a:ea typeface="Times New Roman"/>
                <a:cs typeface="Times New Roman"/>
                <a:sym typeface="Times New Roman"/>
              </a:rPr>
              <a:t>Our main goals are:</a:t>
            </a:r>
            <a:endParaRPr sz="2000" dirty="0"/>
          </a:p>
          <a:p>
            <a:pPr marL="514350" lvl="0" indent="-514350" algn="just" rtl="0">
              <a:lnSpc>
                <a:spcPct val="90000"/>
              </a:lnSpc>
              <a:spcBef>
                <a:spcPts val="1000"/>
              </a:spcBef>
              <a:spcAft>
                <a:spcPts val="0"/>
              </a:spcAft>
              <a:buClr>
                <a:schemeClr val="dk1"/>
              </a:buClr>
              <a:buSzPts val="3200"/>
              <a:buFont typeface="Arial"/>
              <a:buChar char="•"/>
            </a:pPr>
            <a:r>
              <a:rPr lang="en-US" sz="2800" dirty="0">
                <a:latin typeface="Times New Roman"/>
                <a:ea typeface="Times New Roman"/>
                <a:cs typeface="Times New Roman"/>
                <a:sym typeface="Times New Roman"/>
              </a:rPr>
              <a:t>To create an intelligent AI scheduler that decides where jobs should run (Earth or space).</a:t>
            </a:r>
            <a:endParaRPr sz="2000" dirty="0"/>
          </a:p>
          <a:p>
            <a:pPr marL="514350" lvl="0" indent="-514350" algn="just" rtl="0">
              <a:lnSpc>
                <a:spcPct val="90000"/>
              </a:lnSpc>
              <a:spcBef>
                <a:spcPts val="1000"/>
              </a:spcBef>
              <a:spcAft>
                <a:spcPts val="0"/>
              </a:spcAft>
              <a:buClr>
                <a:schemeClr val="dk1"/>
              </a:buClr>
              <a:buSzPts val="3200"/>
              <a:buFont typeface="Arial"/>
              <a:buChar char="•"/>
            </a:pPr>
            <a:r>
              <a:rPr lang="en-US" sz="2800" dirty="0">
                <a:latin typeface="Times New Roman"/>
                <a:ea typeface="Times New Roman"/>
                <a:cs typeface="Times New Roman"/>
                <a:sym typeface="Times New Roman"/>
              </a:rPr>
              <a:t>To make these decisions based on important trade-offs   like cost, speed, and power.</a:t>
            </a:r>
            <a:endParaRPr sz="2000" dirty="0"/>
          </a:p>
          <a:p>
            <a:pPr marL="514350" lvl="0" indent="-514350" algn="just" rtl="0">
              <a:lnSpc>
                <a:spcPct val="90000"/>
              </a:lnSpc>
              <a:spcBef>
                <a:spcPts val="1000"/>
              </a:spcBef>
              <a:spcAft>
                <a:spcPts val="0"/>
              </a:spcAft>
              <a:buClr>
                <a:schemeClr val="dk1"/>
              </a:buClr>
              <a:buSzPts val="3200"/>
              <a:buFont typeface="Arial"/>
              <a:buChar char="•"/>
            </a:pPr>
            <a:r>
              <a:rPr lang="en-US" sz="2800" dirty="0">
                <a:latin typeface="Times New Roman"/>
                <a:ea typeface="Times New Roman"/>
                <a:cs typeface="Times New Roman"/>
                <a:sym typeface="Times New Roman"/>
              </a:rPr>
              <a:t>To have the AI explain why it made its choices, so a person can understand them.</a:t>
            </a:r>
            <a:endParaRPr sz="2000" dirty="0"/>
          </a:p>
          <a:p>
            <a:pPr marL="514350" lvl="0" indent="-514350" algn="just" rtl="0">
              <a:lnSpc>
                <a:spcPct val="90000"/>
              </a:lnSpc>
              <a:spcBef>
                <a:spcPts val="1000"/>
              </a:spcBef>
              <a:spcAft>
                <a:spcPts val="0"/>
              </a:spcAft>
              <a:buClr>
                <a:schemeClr val="dk1"/>
              </a:buClr>
              <a:buSzPts val="3200"/>
              <a:buFont typeface="Arial"/>
              <a:buChar char="•"/>
            </a:pPr>
            <a:r>
              <a:rPr lang="en-US" sz="2800" dirty="0">
                <a:latin typeface="Times New Roman"/>
                <a:ea typeface="Times New Roman"/>
                <a:cs typeface="Times New Roman"/>
                <a:sym typeface="Times New Roman"/>
              </a:rPr>
              <a:t>To build a user-friendly website to show all of this in a clear way.</a:t>
            </a:r>
            <a:endParaRPr sz="2000" dirty="0"/>
          </a:p>
          <a:p>
            <a:pPr marL="0" marR="0" lvl="0" indent="0" algn="l" rtl="0">
              <a:lnSpc>
                <a:spcPct val="100000"/>
              </a:lnSpc>
              <a:spcBef>
                <a:spcPts val="0"/>
              </a:spcBef>
              <a:spcAft>
                <a:spcPts val="0"/>
              </a:spcAft>
              <a:buClr>
                <a:schemeClr val="dk1"/>
              </a:buClr>
              <a:buSzPts val="2400"/>
              <a:buFont typeface="Arial"/>
              <a:buNone/>
            </a:pPr>
            <a:endParaRPr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0864-78C9-B36F-9B60-64CF9381FA06}"/>
              </a:ext>
            </a:extLst>
          </p:cNvPr>
          <p:cNvSpPr>
            <a:spLocks noGrp="1"/>
          </p:cNvSpPr>
          <p:nvPr>
            <p:ph type="ctrTitle"/>
          </p:nvPr>
        </p:nvSpPr>
        <p:spPr>
          <a:xfrm>
            <a:off x="71120" y="196646"/>
            <a:ext cx="12120880" cy="896293"/>
          </a:xfrm>
        </p:spPr>
        <p:txBody>
          <a:bodyPr>
            <a:normAutofit/>
          </a:bodyPr>
          <a:lstStyle/>
          <a:p>
            <a:pPr marL="571500" indent="-571500" algn="l">
              <a:buFont typeface="Wingdings" panose="05000000000000000000" pitchFamily="2" charset="2"/>
              <a:buChar char="v"/>
            </a:pPr>
            <a:r>
              <a:rPr lang="en-IN" sz="4000" b="1" dirty="0">
                <a:latin typeface="Times New Roman" panose="02020603050405020304" pitchFamily="18" charset="0"/>
                <a:cs typeface="Times New Roman" panose="02020603050405020304" pitchFamily="18" charset="0"/>
                <a:sym typeface="Arimo Bold"/>
              </a:rPr>
              <a:t>Scope of the Project</a:t>
            </a:r>
            <a:endParaRPr lang="en-US" sz="4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F280758E-9A0D-BC12-A078-D05ECDAA93CD}"/>
              </a:ext>
            </a:extLst>
          </p:cNvPr>
          <p:cNvSpPr>
            <a:spLocks noGrp="1" noChangeArrowheads="1"/>
          </p:cNvSpPr>
          <p:nvPr>
            <p:ph type="subTitle" idx="1"/>
          </p:nvPr>
        </p:nvSpPr>
        <p:spPr bwMode="auto">
          <a:xfrm>
            <a:off x="537444" y="1500368"/>
            <a:ext cx="1056847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00000"/>
              </a:lnSpc>
              <a:spcBef>
                <a:spcPct val="0"/>
              </a:spcBef>
              <a:spcAft>
                <a:spcPct val="0"/>
              </a:spcAft>
              <a:buFont typeface="Arial" panose="020B0604020202020204" pitchFamily="34" charset="0"/>
              <a:buChar char="•"/>
            </a:pPr>
            <a:r>
              <a:rPr lang="en-US" sz="3200" dirty="0">
                <a:latin typeface="Times New Roman" pitchFamily="18" charset="0"/>
                <a:cs typeface="Times New Roman" pitchFamily="18" charset="0"/>
              </a:rPr>
              <a:t>This project will build a proof of concept. It will not use real satellites but will instead use a very realistic simulation of them. Our focus is on the smart scheduling and the user interface, not on building actual space hardware. We will show that our idea works and is a good solution for the future.</a:t>
            </a:r>
            <a:endParaRPr kumimoji="0" lang="en-US" altLang="en-US" sz="320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037926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3"/>
          <p:cNvSpPr txBox="1">
            <a:spLocks noGrp="1"/>
          </p:cNvSpPr>
          <p:nvPr>
            <p:ph type="ctrTitle"/>
          </p:nvPr>
        </p:nvSpPr>
        <p:spPr>
          <a:xfrm>
            <a:off x="71120" y="0"/>
            <a:ext cx="12120900" cy="896400"/>
          </a:xfrm>
          <a:prstGeom prst="rect">
            <a:avLst/>
          </a:prstGeom>
          <a:noFill/>
          <a:ln>
            <a:noFill/>
          </a:ln>
        </p:spPr>
        <p:txBody>
          <a:bodyPr spcFirstLastPara="1" wrap="square" lIns="91425" tIns="45700" rIns="91425" bIns="45700" anchor="b" anchorCtr="0">
            <a:normAutofit/>
          </a:bodyPr>
          <a:lstStyle/>
          <a:p>
            <a:pPr marL="571500" lvl="0" indent="-571500" algn="l" rtl="0">
              <a:lnSpc>
                <a:spcPct val="90000"/>
              </a:lnSpc>
              <a:spcBef>
                <a:spcPts val="0"/>
              </a:spcBef>
              <a:spcAft>
                <a:spcPts val="0"/>
              </a:spcAft>
              <a:buClr>
                <a:schemeClr val="dk1"/>
              </a:buClr>
              <a:buSzPts val="4000"/>
              <a:buFont typeface="Wingdings" panose="05000000000000000000" pitchFamily="2" charset="2"/>
              <a:buChar char="v"/>
            </a:pPr>
            <a:r>
              <a:rPr lang="en-US" sz="4000" b="1" dirty="0">
                <a:latin typeface="Times New Roman" panose="02020603050405020304" pitchFamily="18" charset="0"/>
                <a:ea typeface="Arimo"/>
                <a:cs typeface="Times New Roman" panose="02020603050405020304" pitchFamily="18" charset="0"/>
                <a:sym typeface="Arimo"/>
              </a:rPr>
              <a:t>Literature Review</a:t>
            </a:r>
            <a:endParaRPr sz="4000" b="1" dirty="0">
              <a:latin typeface="Times New Roman" panose="02020603050405020304" pitchFamily="18" charset="0"/>
              <a:ea typeface="Times New Roman"/>
              <a:cs typeface="Times New Roman" panose="02020603050405020304" pitchFamily="18" charset="0"/>
              <a:sym typeface="Times New Roman"/>
            </a:endParaRPr>
          </a:p>
        </p:txBody>
      </p:sp>
      <p:graphicFrame>
        <p:nvGraphicFramePr>
          <p:cNvPr id="6" name="Table 5"/>
          <p:cNvGraphicFramePr>
            <a:graphicFrameLocks noGrp="1"/>
          </p:cNvGraphicFramePr>
          <p:nvPr>
            <p:extLst>
              <p:ext uri="{D42A27DB-BD31-4B8C-83A1-F6EECF244321}">
                <p14:modId xmlns:p14="http://schemas.microsoft.com/office/powerpoint/2010/main" val="3297418307"/>
              </p:ext>
            </p:extLst>
          </p:nvPr>
        </p:nvGraphicFramePr>
        <p:xfrm>
          <a:off x="1007533" y="1244601"/>
          <a:ext cx="8601783" cy="4389966"/>
        </p:xfrm>
        <a:graphic>
          <a:graphicData uri="http://schemas.openxmlformats.org/drawingml/2006/table">
            <a:tbl>
              <a:tblPr>
                <a:tableStyleId>{616DA210-FB5B-4158-B5E0-FEB733F419BA}</a:tableStyleId>
              </a:tblPr>
              <a:tblGrid>
                <a:gridCol w="615083">
                  <a:extLst>
                    <a:ext uri="{9D8B030D-6E8A-4147-A177-3AD203B41FA5}">
                      <a16:colId xmlns:a16="http://schemas.microsoft.com/office/drawing/2014/main" val="20000"/>
                    </a:ext>
                  </a:extLst>
                </a:gridCol>
                <a:gridCol w="1996675">
                  <a:extLst>
                    <a:ext uri="{9D8B030D-6E8A-4147-A177-3AD203B41FA5}">
                      <a16:colId xmlns:a16="http://schemas.microsoft.com/office/drawing/2014/main" val="20001"/>
                    </a:ext>
                  </a:extLst>
                </a:gridCol>
                <a:gridCol w="1996675">
                  <a:extLst>
                    <a:ext uri="{9D8B030D-6E8A-4147-A177-3AD203B41FA5}">
                      <a16:colId xmlns:a16="http://schemas.microsoft.com/office/drawing/2014/main" val="20002"/>
                    </a:ext>
                  </a:extLst>
                </a:gridCol>
                <a:gridCol w="1996675">
                  <a:extLst>
                    <a:ext uri="{9D8B030D-6E8A-4147-A177-3AD203B41FA5}">
                      <a16:colId xmlns:a16="http://schemas.microsoft.com/office/drawing/2014/main" val="20003"/>
                    </a:ext>
                  </a:extLst>
                </a:gridCol>
                <a:gridCol w="1996675">
                  <a:extLst>
                    <a:ext uri="{9D8B030D-6E8A-4147-A177-3AD203B41FA5}">
                      <a16:colId xmlns:a16="http://schemas.microsoft.com/office/drawing/2014/main" val="20004"/>
                    </a:ext>
                  </a:extLst>
                </a:gridCol>
              </a:tblGrid>
              <a:tr h="287346">
                <a:tc>
                  <a:txBody>
                    <a:bodyPr/>
                    <a:lstStyle/>
                    <a:p>
                      <a:r>
                        <a:rPr lang="en-IN" sz="1400" b="1" dirty="0" err="1">
                          <a:solidFill>
                            <a:schemeClr val="tx1"/>
                          </a:solidFill>
                        </a:rPr>
                        <a:t>Sr.No</a:t>
                      </a:r>
                      <a:endParaRPr lang="en-US" sz="1400" b="1" dirty="0">
                        <a:solidFill>
                          <a:schemeClr val="tx1"/>
                        </a:solidFill>
                      </a:endParaRPr>
                    </a:p>
                  </a:txBody>
                  <a:tcPr marL="68591" marR="68591" marT="34295" marB="34295" anchor="ctr"/>
                </a:tc>
                <a:tc>
                  <a:txBody>
                    <a:bodyPr/>
                    <a:lstStyle/>
                    <a:p>
                      <a:r>
                        <a:rPr lang="en-US" sz="1400" b="1" dirty="0">
                          <a:solidFill>
                            <a:schemeClr val="tx1"/>
                          </a:solidFill>
                        </a:rPr>
                        <a:t>Author(s)</a:t>
                      </a:r>
                    </a:p>
                  </a:txBody>
                  <a:tcPr marL="68591" marR="68591" marT="34295" marB="34295" anchor="ctr"/>
                </a:tc>
                <a:tc>
                  <a:txBody>
                    <a:bodyPr/>
                    <a:lstStyle/>
                    <a:p>
                      <a:r>
                        <a:rPr lang="en-US" sz="1400" b="1" dirty="0">
                          <a:solidFill>
                            <a:schemeClr val="tx1"/>
                          </a:solidFill>
                        </a:rPr>
                        <a:t>Year</a:t>
                      </a:r>
                    </a:p>
                  </a:txBody>
                  <a:tcPr marL="68591" marR="68591" marT="34295" marB="34295" anchor="ctr"/>
                </a:tc>
                <a:tc>
                  <a:txBody>
                    <a:bodyPr/>
                    <a:lstStyle/>
                    <a:p>
                      <a:r>
                        <a:rPr lang="en-US" sz="1400" b="1" dirty="0">
                          <a:solidFill>
                            <a:schemeClr val="tx1"/>
                          </a:solidFill>
                        </a:rPr>
                        <a:t>Title / Source</a:t>
                      </a:r>
                    </a:p>
                  </a:txBody>
                  <a:tcPr marL="68591" marR="68591" marT="34295" marB="34295" anchor="ctr"/>
                </a:tc>
                <a:tc>
                  <a:txBody>
                    <a:bodyPr/>
                    <a:lstStyle/>
                    <a:p>
                      <a:r>
                        <a:rPr lang="en-US" sz="1400" b="1" dirty="0">
                          <a:solidFill>
                            <a:schemeClr val="tx1"/>
                          </a:solidFill>
                        </a:rPr>
                        <a:t>Focus Area</a:t>
                      </a:r>
                    </a:p>
                  </a:txBody>
                  <a:tcPr marL="68591" marR="68591" marT="34295" marB="34295" anchor="ctr"/>
                </a:tc>
                <a:extLst>
                  <a:ext uri="{0D108BD9-81ED-4DB2-BD59-A6C34878D82A}">
                    <a16:rowId xmlns:a16="http://schemas.microsoft.com/office/drawing/2014/main" val="10000"/>
                  </a:ext>
                </a:extLst>
              </a:tr>
              <a:tr h="1144131">
                <a:tc>
                  <a:txBody>
                    <a:bodyPr/>
                    <a:lstStyle/>
                    <a:p>
                      <a:r>
                        <a:rPr lang="en-US" sz="1400" b="1" dirty="0">
                          <a:solidFill>
                            <a:schemeClr val="tx1"/>
                          </a:solidFill>
                        </a:rPr>
                        <a:t>1</a:t>
                      </a:r>
                    </a:p>
                  </a:txBody>
                  <a:tcPr marL="68591" marR="68591" marT="34295" marB="34295" anchor="ctr"/>
                </a:tc>
                <a:tc>
                  <a:txBody>
                    <a:bodyPr/>
                    <a:lstStyle/>
                    <a:p>
                      <a:r>
                        <a:rPr lang="en-US" sz="1400" dirty="0">
                          <a:solidFill>
                            <a:schemeClr val="tx1"/>
                          </a:solidFill>
                        </a:rPr>
                        <a:t>Gupta, R. P.</a:t>
                      </a:r>
                    </a:p>
                  </a:txBody>
                  <a:tcPr marL="68591" marR="68591" marT="34295" marB="34295" anchor="ctr"/>
                </a:tc>
                <a:tc>
                  <a:txBody>
                    <a:bodyPr/>
                    <a:lstStyle/>
                    <a:p>
                      <a:r>
                        <a:rPr lang="en-US" sz="1400" dirty="0">
                          <a:solidFill>
                            <a:schemeClr val="tx1"/>
                          </a:solidFill>
                        </a:rPr>
                        <a:t>2025</a:t>
                      </a:r>
                    </a:p>
                  </a:txBody>
                  <a:tcPr marL="68591" marR="68591" marT="34295" marB="34295" anchor="ctr"/>
                </a:tc>
                <a:tc>
                  <a:txBody>
                    <a:bodyPr/>
                    <a:lstStyle/>
                    <a:p>
                      <a:r>
                        <a:rPr lang="en-US" sz="1400" dirty="0">
                          <a:solidFill>
                            <a:schemeClr val="tx1"/>
                          </a:solidFill>
                        </a:rPr>
                        <a:t>How Generative AI Can Revolutionize Project Scheduling (</a:t>
                      </a:r>
                      <a:r>
                        <a:rPr lang="en-US" sz="1400" dirty="0" err="1">
                          <a:solidFill>
                            <a:schemeClr val="tx1"/>
                          </a:solidFill>
                        </a:rPr>
                        <a:t>INDIAai</a:t>
                      </a:r>
                      <a:r>
                        <a:rPr lang="en-US" sz="1400" dirty="0">
                          <a:solidFill>
                            <a:schemeClr val="tx1"/>
                          </a:solidFill>
                        </a:rPr>
                        <a:t>)</a:t>
                      </a:r>
                    </a:p>
                  </a:txBody>
                  <a:tcPr marL="68591" marR="68591" marT="34295" marB="34295" anchor="ctr"/>
                </a:tc>
                <a:tc>
                  <a:txBody>
                    <a:bodyPr/>
                    <a:lstStyle/>
                    <a:p>
                      <a:r>
                        <a:rPr lang="en-US" sz="1400" dirty="0" err="1">
                          <a:solidFill>
                            <a:schemeClr val="tx1"/>
                          </a:solidFill>
                        </a:rPr>
                        <a:t>GenAI</a:t>
                      </a:r>
                      <a:r>
                        <a:rPr lang="en-US" sz="1400" dirty="0">
                          <a:solidFill>
                            <a:schemeClr val="tx1"/>
                          </a:solidFill>
                        </a:rPr>
                        <a:t> in scheduling</a:t>
                      </a:r>
                    </a:p>
                  </a:txBody>
                  <a:tcPr marL="68591" marR="68591" marT="34295" marB="34295" anchor="ctr"/>
                </a:tc>
                <a:extLst>
                  <a:ext uri="{0D108BD9-81ED-4DB2-BD59-A6C34878D82A}">
                    <a16:rowId xmlns:a16="http://schemas.microsoft.com/office/drawing/2014/main" val="10001"/>
                  </a:ext>
                </a:extLst>
              </a:tr>
              <a:tr h="676077">
                <a:tc>
                  <a:txBody>
                    <a:bodyPr/>
                    <a:lstStyle/>
                    <a:p>
                      <a:r>
                        <a:rPr lang="en-US" sz="1400" b="1" dirty="0">
                          <a:solidFill>
                            <a:schemeClr val="tx1"/>
                          </a:solidFill>
                        </a:rPr>
                        <a:t>2</a:t>
                      </a:r>
                    </a:p>
                  </a:txBody>
                  <a:tcPr marL="68591" marR="68591" marT="34295" marB="34295" anchor="ctr"/>
                </a:tc>
                <a:tc>
                  <a:txBody>
                    <a:bodyPr/>
                    <a:lstStyle/>
                    <a:p>
                      <a:r>
                        <a:rPr lang="en-US" sz="1400" dirty="0">
                          <a:solidFill>
                            <a:schemeClr val="tx1"/>
                          </a:solidFill>
                        </a:rPr>
                        <a:t>Jaimes &amp; Coello </a:t>
                      </a:r>
                      <a:r>
                        <a:rPr lang="en-US" sz="1400" dirty="0" err="1">
                          <a:solidFill>
                            <a:schemeClr val="tx1"/>
                          </a:solidFill>
                        </a:rPr>
                        <a:t>Coello</a:t>
                      </a:r>
                      <a:endParaRPr lang="en-US" sz="1400" dirty="0">
                        <a:solidFill>
                          <a:schemeClr val="tx1"/>
                        </a:solidFill>
                      </a:endParaRPr>
                    </a:p>
                  </a:txBody>
                  <a:tcPr marL="68591" marR="68591" marT="34295" marB="34295" anchor="ctr"/>
                </a:tc>
                <a:tc>
                  <a:txBody>
                    <a:bodyPr/>
                    <a:lstStyle/>
                    <a:p>
                      <a:r>
                        <a:rPr lang="en-US" sz="1400" dirty="0">
                          <a:solidFill>
                            <a:schemeClr val="tx1"/>
                          </a:solidFill>
                        </a:rPr>
                        <a:t>2025</a:t>
                      </a:r>
                    </a:p>
                  </a:txBody>
                  <a:tcPr marL="68591" marR="68591" marT="34295" marB="34295" anchor="ctr"/>
                </a:tc>
                <a:tc>
                  <a:txBody>
                    <a:bodyPr/>
                    <a:lstStyle/>
                    <a:p>
                      <a:r>
                        <a:rPr lang="en-US" sz="1400" dirty="0">
                          <a:solidFill>
                            <a:schemeClr val="tx1"/>
                          </a:solidFill>
                        </a:rPr>
                        <a:t>Multi-Objective Evolutionary Algorithms</a:t>
                      </a:r>
                    </a:p>
                  </a:txBody>
                  <a:tcPr marL="68591" marR="68591" marT="34295" marB="34295" anchor="ctr"/>
                </a:tc>
                <a:tc>
                  <a:txBody>
                    <a:bodyPr/>
                    <a:lstStyle/>
                    <a:p>
                      <a:r>
                        <a:rPr lang="en-US" sz="1400">
                          <a:solidFill>
                            <a:schemeClr val="tx1"/>
                          </a:solidFill>
                        </a:rPr>
                        <a:t>Search strategies</a:t>
                      </a:r>
                    </a:p>
                  </a:txBody>
                  <a:tcPr marL="68591" marR="68591" marT="34295" marB="34295" anchor="ctr"/>
                </a:tc>
                <a:extLst>
                  <a:ext uri="{0D108BD9-81ED-4DB2-BD59-A6C34878D82A}">
                    <a16:rowId xmlns:a16="http://schemas.microsoft.com/office/drawing/2014/main" val="10002"/>
                  </a:ext>
                </a:extLst>
              </a:tr>
              <a:tr h="676077">
                <a:tc>
                  <a:txBody>
                    <a:bodyPr/>
                    <a:lstStyle/>
                    <a:p>
                      <a:r>
                        <a:rPr lang="en-US" sz="1400" b="1" dirty="0">
                          <a:solidFill>
                            <a:schemeClr val="tx1"/>
                          </a:solidFill>
                        </a:rPr>
                        <a:t>3</a:t>
                      </a:r>
                    </a:p>
                  </a:txBody>
                  <a:tcPr marL="68591" marR="68591" marT="34295" marB="34295" anchor="ctr"/>
                </a:tc>
                <a:tc>
                  <a:txBody>
                    <a:bodyPr/>
                    <a:lstStyle/>
                    <a:p>
                      <a:r>
                        <a:rPr lang="en-US" sz="1400">
                          <a:solidFill>
                            <a:schemeClr val="tx1"/>
                          </a:solidFill>
                        </a:rPr>
                        <a:t>Huynh, C.</a:t>
                      </a:r>
                    </a:p>
                  </a:txBody>
                  <a:tcPr marL="68591" marR="68591" marT="34295" marB="34295" anchor="ctr"/>
                </a:tc>
                <a:tc>
                  <a:txBody>
                    <a:bodyPr/>
                    <a:lstStyle/>
                    <a:p>
                      <a:r>
                        <a:rPr lang="en-US" sz="1400" dirty="0">
                          <a:solidFill>
                            <a:schemeClr val="tx1"/>
                          </a:solidFill>
                        </a:rPr>
                        <a:t>2025</a:t>
                      </a:r>
                    </a:p>
                  </a:txBody>
                  <a:tcPr marL="68591" marR="68591" marT="34295" marB="34295" anchor="ctr"/>
                </a:tc>
                <a:tc>
                  <a:txBody>
                    <a:bodyPr/>
                    <a:lstStyle/>
                    <a:p>
                      <a:r>
                        <a:rPr lang="en-US" sz="1400" dirty="0">
                          <a:solidFill>
                            <a:schemeClr val="tx1"/>
                          </a:solidFill>
                        </a:rPr>
                        <a:t>AI on the Edge of Space (CSET)</a:t>
                      </a:r>
                    </a:p>
                  </a:txBody>
                  <a:tcPr marL="68591" marR="68591" marT="34295" marB="34295" anchor="ctr"/>
                </a:tc>
                <a:tc>
                  <a:txBody>
                    <a:bodyPr/>
                    <a:lstStyle/>
                    <a:p>
                      <a:r>
                        <a:rPr lang="en-US" sz="1400">
                          <a:solidFill>
                            <a:schemeClr val="tx1"/>
                          </a:solidFill>
                        </a:rPr>
                        <a:t>Onboard AI agents &amp; explainability</a:t>
                      </a:r>
                    </a:p>
                  </a:txBody>
                  <a:tcPr marL="68591" marR="68591" marT="34295" marB="34295" anchor="ctr"/>
                </a:tc>
                <a:extLst>
                  <a:ext uri="{0D108BD9-81ED-4DB2-BD59-A6C34878D82A}">
                    <a16:rowId xmlns:a16="http://schemas.microsoft.com/office/drawing/2014/main" val="10003"/>
                  </a:ext>
                </a:extLst>
              </a:tr>
              <a:tr h="520060">
                <a:tc>
                  <a:txBody>
                    <a:bodyPr/>
                    <a:lstStyle/>
                    <a:p>
                      <a:r>
                        <a:rPr lang="en-US" sz="1400" b="1" dirty="0">
                          <a:solidFill>
                            <a:schemeClr val="tx1"/>
                          </a:solidFill>
                        </a:rPr>
                        <a:t>4</a:t>
                      </a:r>
                    </a:p>
                  </a:txBody>
                  <a:tcPr marL="68591" marR="68591" marT="34295" marB="34295" anchor="ctr"/>
                </a:tc>
                <a:tc>
                  <a:txBody>
                    <a:bodyPr/>
                    <a:lstStyle/>
                    <a:p>
                      <a:r>
                        <a:rPr lang="en-US" sz="1400">
                          <a:solidFill>
                            <a:schemeClr val="tx1"/>
                          </a:solidFill>
                        </a:rPr>
                        <a:t>Pratt, Bostian &amp; Allnutt</a:t>
                      </a:r>
                    </a:p>
                  </a:txBody>
                  <a:tcPr marL="68591" marR="68591" marT="34295" marB="34295" anchor="ctr"/>
                </a:tc>
                <a:tc>
                  <a:txBody>
                    <a:bodyPr/>
                    <a:lstStyle/>
                    <a:p>
                      <a:r>
                        <a:rPr lang="en-US" sz="1400" dirty="0">
                          <a:solidFill>
                            <a:schemeClr val="tx1"/>
                          </a:solidFill>
                        </a:rPr>
                        <a:t>2021</a:t>
                      </a:r>
                    </a:p>
                  </a:txBody>
                  <a:tcPr marL="68591" marR="68591" marT="34295" marB="34295" anchor="ctr"/>
                </a:tc>
                <a:tc>
                  <a:txBody>
                    <a:bodyPr/>
                    <a:lstStyle/>
                    <a:p>
                      <a:r>
                        <a:rPr lang="en-US" sz="1400" dirty="0">
                          <a:solidFill>
                            <a:schemeClr val="tx1"/>
                          </a:solidFill>
                        </a:rPr>
                        <a:t>Satellite Communications</a:t>
                      </a:r>
                    </a:p>
                  </a:txBody>
                  <a:tcPr marL="68591" marR="68591" marT="34295" marB="34295" anchor="ctr"/>
                </a:tc>
                <a:tc>
                  <a:txBody>
                    <a:bodyPr/>
                    <a:lstStyle/>
                    <a:p>
                      <a:r>
                        <a:rPr lang="en-US" sz="1400">
                          <a:solidFill>
                            <a:schemeClr val="tx1"/>
                          </a:solidFill>
                        </a:rPr>
                        <a:t>Orbital mechanics</a:t>
                      </a:r>
                    </a:p>
                  </a:txBody>
                  <a:tcPr marL="68591" marR="68591" marT="34295" marB="34295" anchor="ctr"/>
                </a:tc>
                <a:extLst>
                  <a:ext uri="{0D108BD9-81ED-4DB2-BD59-A6C34878D82A}">
                    <a16:rowId xmlns:a16="http://schemas.microsoft.com/office/drawing/2014/main" val="10004"/>
                  </a:ext>
                </a:extLst>
              </a:tr>
              <a:tr h="364042">
                <a:tc>
                  <a:txBody>
                    <a:bodyPr/>
                    <a:lstStyle/>
                    <a:p>
                      <a:r>
                        <a:rPr lang="en-US" sz="1400" b="1" dirty="0">
                          <a:solidFill>
                            <a:schemeClr val="tx1"/>
                          </a:solidFill>
                        </a:rPr>
                        <a:t>5</a:t>
                      </a:r>
                    </a:p>
                  </a:txBody>
                  <a:tcPr marL="68591" marR="68591" marT="34295" marB="34295" anchor="ctr"/>
                </a:tc>
                <a:tc>
                  <a:txBody>
                    <a:bodyPr/>
                    <a:lstStyle/>
                    <a:p>
                      <a:r>
                        <a:rPr lang="en-US" sz="1400">
                          <a:solidFill>
                            <a:schemeClr val="tx1"/>
                          </a:solidFill>
                        </a:rPr>
                        <a:t>Pelton, J. N.</a:t>
                      </a:r>
                    </a:p>
                  </a:txBody>
                  <a:tcPr marL="68591" marR="68591" marT="34295" marB="34295" anchor="ctr"/>
                </a:tc>
                <a:tc>
                  <a:txBody>
                    <a:bodyPr/>
                    <a:lstStyle/>
                    <a:p>
                      <a:r>
                        <a:rPr lang="en-US" sz="1400" dirty="0">
                          <a:solidFill>
                            <a:schemeClr val="tx1"/>
                          </a:solidFill>
                        </a:rPr>
                        <a:t>2024</a:t>
                      </a:r>
                    </a:p>
                  </a:txBody>
                  <a:tcPr marL="68591" marR="68591" marT="34295" marB="34295" anchor="ctr"/>
                </a:tc>
                <a:tc>
                  <a:txBody>
                    <a:bodyPr/>
                    <a:lstStyle/>
                    <a:p>
                      <a:r>
                        <a:rPr lang="en-US" sz="1400" dirty="0">
                          <a:solidFill>
                            <a:schemeClr val="tx1"/>
                          </a:solidFill>
                        </a:rPr>
                        <a:t>The New Space Race</a:t>
                      </a:r>
                    </a:p>
                  </a:txBody>
                  <a:tcPr marL="68591" marR="68591" marT="34295" marB="34295" anchor="ctr"/>
                </a:tc>
                <a:tc>
                  <a:txBody>
                    <a:bodyPr/>
                    <a:lstStyle/>
                    <a:p>
                      <a:r>
                        <a:rPr lang="en-US" sz="1400" dirty="0">
                          <a:solidFill>
                            <a:schemeClr val="tx1"/>
                          </a:solidFill>
                        </a:rPr>
                        <a:t>Space policy &amp; strategy</a:t>
                      </a:r>
                    </a:p>
                  </a:txBody>
                  <a:tcPr marL="68591" marR="68591" marT="34295" marB="34295" anchor="ctr"/>
                </a:tc>
                <a:extLst>
                  <a:ext uri="{0D108BD9-81ED-4DB2-BD59-A6C34878D82A}">
                    <a16:rowId xmlns:a16="http://schemas.microsoft.com/office/drawing/2014/main" val="10005"/>
                  </a:ext>
                </a:extLst>
              </a:tr>
              <a:tr h="722233">
                <a:tc>
                  <a:txBody>
                    <a:bodyPr/>
                    <a:lstStyle/>
                    <a:p>
                      <a:r>
                        <a:rPr lang="en-US" sz="1400" b="1" dirty="0">
                          <a:solidFill>
                            <a:schemeClr val="tx1"/>
                          </a:solidFill>
                        </a:rPr>
                        <a:t>6</a:t>
                      </a:r>
                    </a:p>
                  </a:txBody>
                  <a:tcPr marL="68591" marR="68591" marT="34295" marB="34295" anchor="ctr"/>
                </a:tc>
                <a:tc>
                  <a:txBody>
                    <a:bodyPr/>
                    <a:lstStyle/>
                    <a:p>
                      <a:r>
                        <a:rPr lang="en-US" sz="1400">
                          <a:solidFill>
                            <a:schemeClr val="tx1"/>
                          </a:solidFill>
                        </a:rPr>
                        <a:t>Maral &amp; Bousquet</a:t>
                      </a:r>
                    </a:p>
                  </a:txBody>
                  <a:tcPr marL="68591" marR="68591" marT="34295" marB="34295" anchor="ctr"/>
                </a:tc>
                <a:tc>
                  <a:txBody>
                    <a:bodyPr/>
                    <a:lstStyle/>
                    <a:p>
                      <a:r>
                        <a:rPr lang="en-US" sz="1400" dirty="0">
                          <a:solidFill>
                            <a:schemeClr val="tx1"/>
                          </a:solidFill>
                        </a:rPr>
                        <a:t>2022</a:t>
                      </a:r>
                    </a:p>
                  </a:txBody>
                  <a:tcPr marL="68591" marR="68591" marT="34295" marB="34295" anchor="ctr"/>
                </a:tc>
                <a:tc>
                  <a:txBody>
                    <a:bodyPr/>
                    <a:lstStyle/>
                    <a:p>
                      <a:r>
                        <a:rPr lang="en-US" sz="1400" dirty="0">
                          <a:solidFill>
                            <a:schemeClr val="tx1"/>
                          </a:solidFill>
                        </a:rPr>
                        <a:t>Satellite Communications Systems</a:t>
                      </a:r>
                    </a:p>
                  </a:txBody>
                  <a:tcPr marL="68591" marR="68591" marT="34295" marB="34295" anchor="ctr"/>
                </a:tc>
                <a:tc>
                  <a:txBody>
                    <a:bodyPr/>
                    <a:lstStyle/>
                    <a:p>
                      <a:r>
                        <a:rPr lang="en-US" sz="1400" dirty="0">
                          <a:solidFill>
                            <a:schemeClr val="tx1"/>
                          </a:solidFill>
                        </a:rPr>
                        <a:t>Link analysis</a:t>
                      </a:r>
                    </a:p>
                  </a:txBody>
                  <a:tcPr marL="68591" marR="68591" marT="34295" marB="3429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0864-78C9-B36F-9B60-64CF9381FA06}"/>
              </a:ext>
            </a:extLst>
          </p:cNvPr>
          <p:cNvSpPr>
            <a:spLocks noGrp="1"/>
          </p:cNvSpPr>
          <p:nvPr>
            <p:ph type="ctrTitle"/>
          </p:nvPr>
        </p:nvSpPr>
        <p:spPr>
          <a:xfrm>
            <a:off x="71120" y="0"/>
            <a:ext cx="12120880" cy="896293"/>
          </a:xfrm>
        </p:spPr>
        <p:txBody>
          <a:bodyPr>
            <a:normAutofit/>
          </a:bodyPr>
          <a:lstStyle/>
          <a:p>
            <a:pPr marL="571500" indent="-571500" algn="l">
              <a:buFont typeface="Wingdings" panose="05000000000000000000" pitchFamily="2" charset="2"/>
              <a:buChar char="v"/>
            </a:pPr>
            <a:r>
              <a:rPr lang="en-IN" sz="4000" b="1" dirty="0">
                <a:latin typeface="Times New Roman" panose="02020603050405020304" pitchFamily="18" charset="0"/>
                <a:cs typeface="Times New Roman" panose="02020603050405020304" pitchFamily="18" charset="0"/>
                <a:sym typeface="Arimo Bold"/>
              </a:rPr>
              <a:t>Proposed Methodology</a:t>
            </a:r>
            <a:endParaRPr lang="en-US" sz="4000" b="1"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570368" y="1140738"/>
            <a:ext cx="5251010" cy="7604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mo Bold"/>
              </a:rPr>
              <a:t>Task Submission</a:t>
            </a:r>
            <a:endParaRPr lang="en-US" sz="2800" b="1" dirty="0">
              <a:solidFill>
                <a:schemeClr val="bg1"/>
              </a:solidFill>
              <a:latin typeface="Arimo Bold"/>
            </a:endParaRPr>
          </a:p>
        </p:txBody>
      </p:sp>
      <p:sp>
        <p:nvSpPr>
          <p:cNvPr id="8" name="Rounded Rectangle 7"/>
          <p:cNvSpPr/>
          <p:nvPr/>
        </p:nvSpPr>
        <p:spPr>
          <a:xfrm>
            <a:off x="559807" y="2289019"/>
            <a:ext cx="5297786" cy="8163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The Intelligent Decision</a:t>
            </a:r>
          </a:p>
        </p:txBody>
      </p:sp>
      <p:sp>
        <p:nvSpPr>
          <p:cNvPr id="9" name="Rounded Rectangle 8"/>
          <p:cNvSpPr/>
          <p:nvPr/>
        </p:nvSpPr>
        <p:spPr>
          <a:xfrm>
            <a:off x="543207" y="3473512"/>
            <a:ext cx="5241957" cy="763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Execution (in the Simulation)</a:t>
            </a:r>
          </a:p>
        </p:txBody>
      </p:sp>
      <p:sp>
        <p:nvSpPr>
          <p:cNvPr id="10" name="Rounded Rectangle 9"/>
          <p:cNvSpPr/>
          <p:nvPr/>
        </p:nvSpPr>
        <p:spPr>
          <a:xfrm>
            <a:off x="561317" y="4626320"/>
            <a:ext cx="5287223" cy="8117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Result and Explanation</a:t>
            </a:r>
          </a:p>
        </p:txBody>
      </p:sp>
      <p:sp>
        <p:nvSpPr>
          <p:cNvPr id="13" name="Down Arrow 12"/>
          <p:cNvSpPr/>
          <p:nvPr/>
        </p:nvSpPr>
        <p:spPr>
          <a:xfrm>
            <a:off x="2978590" y="1901228"/>
            <a:ext cx="190123" cy="2897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2977080" y="3094777"/>
            <a:ext cx="190123" cy="2897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2984625" y="4252111"/>
            <a:ext cx="190123" cy="2897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a:off x="5866646" y="2553077"/>
            <a:ext cx="959667" cy="2625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 Diagonal Corner Rectangle 17"/>
          <p:cNvSpPr/>
          <p:nvPr/>
        </p:nvSpPr>
        <p:spPr>
          <a:xfrm>
            <a:off x="7568697" y="1466662"/>
            <a:ext cx="3675707" cy="71522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Analyze the Task</a:t>
            </a:r>
          </a:p>
        </p:txBody>
      </p:sp>
      <p:sp>
        <p:nvSpPr>
          <p:cNvPr id="19" name="Round Diagonal Corner Rectangle 18"/>
          <p:cNvSpPr/>
          <p:nvPr/>
        </p:nvSpPr>
        <p:spPr>
          <a:xfrm>
            <a:off x="7585295" y="3556504"/>
            <a:ext cx="3675707" cy="71522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Make the Smart Choice</a:t>
            </a:r>
          </a:p>
        </p:txBody>
      </p:sp>
      <p:sp>
        <p:nvSpPr>
          <p:cNvPr id="20" name="Round Diagonal Corner Rectangle 19"/>
          <p:cNvSpPr/>
          <p:nvPr/>
        </p:nvSpPr>
        <p:spPr>
          <a:xfrm>
            <a:off x="7620000" y="2486686"/>
            <a:ext cx="3675707" cy="71522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Apply Algorithms </a:t>
            </a:r>
            <a:endParaRPr lang="en-US" sz="2400" b="1" dirty="0"/>
          </a:p>
        </p:txBody>
      </p:sp>
      <p:sp>
        <p:nvSpPr>
          <p:cNvPr id="27" name="Down Arrow 26"/>
          <p:cNvSpPr/>
          <p:nvPr/>
        </p:nvSpPr>
        <p:spPr>
          <a:xfrm>
            <a:off x="6799153" y="1774478"/>
            <a:ext cx="54320" cy="23086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a:off x="6817259" y="1747319"/>
            <a:ext cx="724278" cy="2172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853473" y="2743200"/>
            <a:ext cx="733331" cy="2082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p:cNvSpPr/>
          <p:nvPr/>
        </p:nvSpPr>
        <p:spPr>
          <a:xfrm>
            <a:off x="6833857" y="3837160"/>
            <a:ext cx="733331" cy="2082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7926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F433-76B8-4D9C-F14F-38D53C902E77}"/>
              </a:ext>
            </a:extLst>
          </p:cNvPr>
          <p:cNvSpPr>
            <a:spLocks noGrp="1"/>
          </p:cNvSpPr>
          <p:nvPr>
            <p:ph type="title"/>
          </p:nvPr>
        </p:nvSpPr>
        <p:spPr>
          <a:xfrm>
            <a:off x="0" y="234590"/>
            <a:ext cx="10515600" cy="1325563"/>
          </a:xfrm>
        </p:spPr>
        <p:txBody>
          <a:bodyPr/>
          <a:lstStyle/>
          <a:p>
            <a:pPr marL="571500" indent="-571500">
              <a:buFont typeface="Wingdings" panose="05000000000000000000" pitchFamily="2" charset="2"/>
              <a:buChar char="v"/>
            </a:pPr>
            <a:r>
              <a:rPr lang="en-US" b="1" dirty="0">
                <a:latin typeface="Times New Roman" panose="02020603050405020304" pitchFamily="18" charset="0"/>
                <a:ea typeface="Arimo"/>
                <a:cs typeface="Times New Roman" panose="02020603050405020304" pitchFamily="18" charset="0"/>
                <a:sym typeface="Arimo"/>
              </a:rPr>
              <a:t>System Architecture</a:t>
            </a:r>
            <a:endParaRPr lang="en-IN" dirty="0"/>
          </a:p>
        </p:txBody>
      </p:sp>
      <p:pic>
        <p:nvPicPr>
          <p:cNvPr id="6" name="Content Placeholder 5">
            <a:extLst>
              <a:ext uri="{FF2B5EF4-FFF2-40B4-BE49-F238E27FC236}">
                <a16:creationId xmlns:a16="http://schemas.microsoft.com/office/drawing/2014/main" id="{E8344FF4-9E3B-C4B0-ADFE-343410B79F0F}"/>
              </a:ext>
            </a:extLst>
          </p:cNvPr>
          <p:cNvPicPr>
            <a:picLocks noGrp="1" noChangeAspect="1"/>
          </p:cNvPicPr>
          <p:nvPr>
            <p:ph idx="1"/>
          </p:nvPr>
        </p:nvPicPr>
        <p:blipFill>
          <a:blip r:embed="rId2"/>
          <a:stretch>
            <a:fillRect/>
          </a:stretch>
        </p:blipFill>
        <p:spPr>
          <a:xfrm>
            <a:off x="1307690" y="1560153"/>
            <a:ext cx="8475408" cy="4117384"/>
          </a:xfrm>
        </p:spPr>
      </p:pic>
    </p:spTree>
    <p:extLst>
      <p:ext uri="{BB962C8B-B14F-4D97-AF65-F5344CB8AC3E}">
        <p14:creationId xmlns:p14="http://schemas.microsoft.com/office/powerpoint/2010/main" val="96625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496D-AFE3-0F2D-C07C-7D577BD309E0}"/>
              </a:ext>
            </a:extLst>
          </p:cNvPr>
          <p:cNvSpPr>
            <a:spLocks noGrp="1"/>
          </p:cNvSpPr>
          <p:nvPr>
            <p:ph type="title"/>
          </p:nvPr>
        </p:nvSpPr>
        <p:spPr>
          <a:xfrm>
            <a:off x="0" y="137651"/>
            <a:ext cx="10515600" cy="1240325"/>
          </a:xfrm>
        </p:spPr>
        <p:txBody>
          <a:bodyPr>
            <a:normAutofit/>
          </a:bodyPr>
          <a:lstStyle/>
          <a:p>
            <a:pPr marL="571500" indent="-571500">
              <a:buFont typeface="Wingdings" panose="05000000000000000000" pitchFamily="2" charset="2"/>
              <a:buChar char="v"/>
            </a:pPr>
            <a:r>
              <a:rPr lang="en-US" sz="4000" b="1" dirty="0">
                <a:latin typeface="Times New Roman" panose="02020603050405020304" pitchFamily="18" charset="0"/>
                <a:cs typeface="Times New Roman" panose="02020603050405020304" pitchFamily="18" charset="0"/>
              </a:rPr>
              <a:t>Tools &amp;Technologies</a:t>
            </a:r>
          </a:p>
        </p:txBody>
      </p:sp>
      <p:sp>
        <p:nvSpPr>
          <p:cNvPr id="4" name="Rectangle 1">
            <a:extLst>
              <a:ext uri="{FF2B5EF4-FFF2-40B4-BE49-F238E27FC236}">
                <a16:creationId xmlns:a16="http://schemas.microsoft.com/office/drawing/2014/main" id="{591665E1-0792-1409-7111-684E806297F5}"/>
              </a:ext>
            </a:extLst>
          </p:cNvPr>
          <p:cNvSpPr>
            <a:spLocks noGrp="1" noChangeArrowheads="1"/>
          </p:cNvSpPr>
          <p:nvPr>
            <p:ph idx="1"/>
          </p:nvPr>
        </p:nvSpPr>
        <p:spPr bwMode="auto">
          <a:xfrm>
            <a:off x="741680" y="1621550"/>
            <a:ext cx="10612120" cy="37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3000" b="1" dirty="0">
                <a:latin typeface="Times New Roman" pitchFamily="18" charset="0"/>
                <a:cs typeface="Times New Roman" pitchFamily="18" charset="0"/>
              </a:rPr>
              <a:t>We'll use modern, powerful tools that are mostly free:</a:t>
            </a:r>
          </a:p>
          <a:p>
            <a:pPr marL="514350" indent="-514350">
              <a:buFont typeface="+mj-lt"/>
              <a:buAutoNum type="arabicPeriod"/>
            </a:pPr>
            <a:r>
              <a:rPr lang="en-US" sz="3000" b="1" dirty="0">
                <a:latin typeface="Times New Roman" pitchFamily="18" charset="0"/>
                <a:cs typeface="Times New Roman" pitchFamily="18" charset="0"/>
              </a:rPr>
              <a:t>Backend:</a:t>
            </a:r>
            <a:r>
              <a:rPr lang="en-US" sz="3000" dirty="0">
                <a:latin typeface="Times New Roman" pitchFamily="18" charset="0"/>
                <a:cs typeface="Times New Roman" pitchFamily="18" charset="0"/>
              </a:rPr>
              <a:t> Python and the </a:t>
            </a:r>
            <a:r>
              <a:rPr lang="en-US" sz="3000" dirty="0" err="1">
                <a:latin typeface="Times New Roman" pitchFamily="18" charset="0"/>
                <a:cs typeface="Times New Roman" pitchFamily="18" charset="0"/>
              </a:rPr>
              <a:t>FastAPI</a:t>
            </a:r>
            <a:r>
              <a:rPr lang="en-US" sz="3000" dirty="0">
                <a:latin typeface="Times New Roman" pitchFamily="18" charset="0"/>
                <a:cs typeface="Times New Roman" pitchFamily="18" charset="0"/>
              </a:rPr>
              <a:t> framework.</a:t>
            </a:r>
          </a:p>
          <a:p>
            <a:pPr marL="514350" indent="-514350">
              <a:buFont typeface="+mj-lt"/>
              <a:buAutoNum type="arabicPeriod"/>
            </a:pPr>
            <a:r>
              <a:rPr lang="en-US" sz="3000" b="1" dirty="0">
                <a:latin typeface="Times New Roman" pitchFamily="18" charset="0"/>
                <a:cs typeface="Times New Roman" pitchFamily="18" charset="0"/>
              </a:rPr>
              <a:t>Frontend:</a:t>
            </a:r>
            <a:r>
              <a:rPr lang="en-US" sz="3000" dirty="0">
                <a:latin typeface="Times New Roman" pitchFamily="18" charset="0"/>
                <a:cs typeface="Times New Roman" pitchFamily="18" charset="0"/>
              </a:rPr>
              <a:t> JavaScript and the React framework.</a:t>
            </a:r>
          </a:p>
          <a:p>
            <a:pPr marL="514350" indent="-514350">
              <a:buFont typeface="+mj-lt"/>
              <a:buAutoNum type="arabicPeriod"/>
            </a:pPr>
            <a:r>
              <a:rPr lang="en-US" sz="3000" b="1" dirty="0">
                <a:latin typeface="Times New Roman" pitchFamily="18" charset="0"/>
                <a:cs typeface="Times New Roman" pitchFamily="18" charset="0"/>
              </a:rPr>
              <a:t>AI:</a:t>
            </a:r>
            <a:r>
              <a:rPr lang="en-US" sz="3000" dirty="0">
                <a:latin typeface="Times New Roman" pitchFamily="18" charset="0"/>
                <a:cs typeface="Times New Roman" pitchFamily="18" charset="0"/>
              </a:rPr>
              <a:t> The Google Gemini API for our GenAI brain.</a:t>
            </a:r>
          </a:p>
          <a:p>
            <a:pPr marL="514350" indent="-514350">
              <a:buFont typeface="+mj-lt"/>
              <a:buAutoNum type="arabicPeriod"/>
            </a:pPr>
            <a:r>
              <a:rPr lang="en-US" sz="3000" b="1" dirty="0">
                <a:latin typeface="Times New Roman" pitchFamily="18" charset="0"/>
                <a:cs typeface="Times New Roman" pitchFamily="18" charset="0"/>
              </a:rPr>
              <a:t>Simulation Engine</a:t>
            </a:r>
            <a:r>
              <a:rPr lang="en-US" sz="3000" dirty="0">
                <a:latin typeface="Times New Roman" pitchFamily="18" charset="0"/>
                <a:cs typeface="Times New Roman" pitchFamily="18" charset="0"/>
              </a:rPr>
              <a:t>: Python , </a:t>
            </a:r>
            <a:r>
              <a:rPr lang="en-US" sz="3000" dirty="0" err="1">
                <a:latin typeface="Times New Roman" pitchFamily="18" charset="0"/>
                <a:cs typeface="Times New Roman" pitchFamily="18" charset="0"/>
              </a:rPr>
              <a:t>Skyfield</a:t>
            </a:r>
            <a:r>
              <a:rPr lang="en-US" sz="3000" dirty="0">
                <a:latin typeface="Times New Roman" pitchFamily="18" charset="0"/>
                <a:cs typeface="Times New Roman" pitchFamily="18" charset="0"/>
              </a:rPr>
              <a:t>.</a:t>
            </a:r>
          </a:p>
          <a:p>
            <a:pPr marL="514350" indent="-514350">
              <a:buFont typeface="+mj-lt"/>
              <a:buAutoNum type="arabicPeriod"/>
            </a:pPr>
            <a:r>
              <a:rPr lang="en-US" sz="3000" b="1" dirty="0">
                <a:latin typeface="Times New Roman" pitchFamily="18" charset="0"/>
                <a:cs typeface="Times New Roman" pitchFamily="18" charset="0"/>
              </a:rPr>
              <a:t>Libraries:</a:t>
            </a:r>
            <a:r>
              <a:rPr lang="en-US" sz="3000" dirty="0">
                <a:latin typeface="Times New Roman" pitchFamily="18" charset="0"/>
                <a:cs typeface="Times New Roman" pitchFamily="18" charset="0"/>
              </a:rPr>
              <a:t> Plotly.js for charts and Matplotlib.</a:t>
            </a:r>
          </a:p>
          <a:p>
            <a:pPr marL="514350" indent="-514350">
              <a:buFont typeface="+mj-lt"/>
              <a:buAutoNum type="arabicPeriod"/>
            </a:pPr>
            <a:r>
              <a:rPr lang="en-US" sz="3000" b="1" dirty="0">
                <a:latin typeface="Times New Roman" pitchFamily="18" charset="0"/>
                <a:cs typeface="Times New Roman" pitchFamily="18" charset="0"/>
              </a:rPr>
              <a:t>Database: </a:t>
            </a:r>
            <a:r>
              <a:rPr lang="en-IN" dirty="0" err="1">
                <a:latin typeface="Times New Roman" panose="02020603050405020304" pitchFamily="18" charset="0"/>
                <a:cs typeface="Times New Roman" panose="02020603050405020304" pitchFamily="18" charset="0"/>
              </a:rPr>
              <a:t>Mongodb</a:t>
            </a:r>
            <a:r>
              <a:rPr lang="en-IN" dirty="0">
                <a:latin typeface="Times New Roman" panose="02020603050405020304" pitchFamily="18" charset="0"/>
                <a:cs typeface="Times New Roman" panose="02020603050405020304" pitchFamily="18" charset="0"/>
              </a:rPr>
              <a:t>. </a:t>
            </a:r>
            <a:endParaRPr lang="en-US" sz="30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4069928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14DFC-F702-6CBB-2A97-0DA945C42CE5}"/>
              </a:ext>
            </a:extLst>
          </p:cNvPr>
          <p:cNvSpPr>
            <a:spLocks noGrp="1"/>
          </p:cNvSpPr>
          <p:nvPr>
            <p:ph type="title"/>
          </p:nvPr>
        </p:nvSpPr>
        <p:spPr>
          <a:xfrm>
            <a:off x="646156" y="0"/>
            <a:ext cx="10515600" cy="1325563"/>
          </a:xfrm>
        </p:spPr>
        <p:txBody>
          <a:bodyPr>
            <a:normAutofit/>
          </a:bodyPr>
          <a:lstStyle/>
          <a:p>
            <a:pPr marL="571500" indent="-571500">
              <a:buFont typeface="Wingdings" panose="05000000000000000000" pitchFamily="2" charset="2"/>
              <a:buChar char="v"/>
            </a:pPr>
            <a:r>
              <a:rPr lang="en-US" sz="4000" b="1" dirty="0">
                <a:latin typeface="Times New Roman" panose="02020603050405020304" pitchFamily="18" charset="0"/>
                <a:cs typeface="Times New Roman" panose="02020603050405020304" pitchFamily="18" charset="0"/>
              </a:rPr>
              <a:t>Algorithm</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33BACF-A882-DFFD-D030-A328551488FF}"/>
              </a:ext>
            </a:extLst>
          </p:cNvPr>
          <p:cNvSpPr>
            <a:spLocks noGrp="1"/>
          </p:cNvSpPr>
          <p:nvPr>
            <p:ph idx="1"/>
          </p:nvPr>
        </p:nvSpPr>
        <p:spPr>
          <a:xfrm>
            <a:off x="587162" y="987351"/>
            <a:ext cx="10515600" cy="4883298"/>
          </a:xfrm>
        </p:spPr>
        <p:txBody>
          <a:bodyPr>
            <a:noAutofit/>
          </a:body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Steps:</a:t>
            </a:r>
          </a:p>
          <a:p>
            <a:pPr marL="0" indent="0">
              <a:lnSpc>
                <a:spcPct val="150000"/>
              </a:lnSpc>
              <a:buNone/>
            </a:pP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Start</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User submits a task with attributes → </a:t>
            </a:r>
            <a:r>
              <a:rPr lang="en-US" sz="2400" dirty="0" err="1">
                <a:latin typeface="Times New Roman" panose="02020603050405020304" pitchFamily="18" charset="0"/>
                <a:cs typeface="Times New Roman" panose="02020603050405020304" pitchFamily="18" charset="0"/>
              </a:rPr>
              <a:t>TaskName</a:t>
            </a:r>
            <a:r>
              <a:rPr lang="en-US" sz="2400" dirty="0">
                <a:latin typeface="Times New Roman" panose="02020603050405020304" pitchFamily="18" charset="0"/>
                <a:cs typeface="Times New Roman" panose="02020603050405020304" pitchFamily="18" charset="0"/>
              </a:rPr>
              <a:t>, Compute, </a:t>
            </a:r>
            <a:r>
              <a:rPr lang="en-US" sz="2400" dirty="0" err="1">
                <a:latin typeface="Times New Roman" panose="02020603050405020304" pitchFamily="18" charset="0"/>
                <a:cs typeface="Times New Roman" panose="02020603050405020304" pitchFamily="18" charset="0"/>
              </a:rPr>
              <a:t>DataSize</a:t>
            </a:r>
            <a:r>
              <a:rPr lang="en-US" sz="2400" dirty="0">
                <a:latin typeface="Times New Roman" panose="02020603050405020304" pitchFamily="18" charset="0"/>
                <a:cs typeface="Times New Roman" panose="02020603050405020304" pitchFamily="18" charset="0"/>
              </a:rPr>
              <a:t>, Urgency.</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Backend receives task and queries simulation system for satellite &amp; ground node status.</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Simulation system returns resource info (latency, power, cost, availability).</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5:</a:t>
            </a:r>
            <a:r>
              <a:rPr lang="en-US" sz="2400" dirty="0">
                <a:latin typeface="Times New Roman" panose="02020603050405020304" pitchFamily="18" charset="0"/>
                <a:cs typeface="Times New Roman" panose="02020603050405020304" pitchFamily="18" charset="0"/>
              </a:rPr>
              <a:t> Backend prepares a structured prompt and sends it to the GenAI model.</a:t>
            </a:r>
            <a:br>
              <a:rPr lang="en-US" sz="2400" dirty="0">
                <a:latin typeface="Times New Roman" panose="02020603050405020304" pitchFamily="18" charset="0"/>
                <a:cs typeface="Times New Roman" panose="02020603050405020304" pitchFamily="18" charset="0"/>
              </a:rPr>
            </a:br>
            <a:br>
              <a:rPr lang="en-US" sz="2400" dirty="0">
                <a:latin typeface="Calibri" panose="020F0502020204030204" pitchFamily="34" charset="0"/>
                <a:ea typeface="Calibri" panose="020F0502020204030204" pitchFamily="34" charset="0"/>
                <a:cs typeface="Calibri" panose="020F0502020204030204" pitchFamily="34" charset="0"/>
              </a:rPr>
            </a:br>
            <a:r>
              <a:rPr lang="en-IN" sz="1800" dirty="0"/>
              <a:t>          </a:t>
            </a:r>
          </a:p>
        </p:txBody>
      </p:sp>
    </p:spTree>
    <p:extLst>
      <p:ext uri="{BB962C8B-B14F-4D97-AF65-F5344CB8AC3E}">
        <p14:creationId xmlns:p14="http://schemas.microsoft.com/office/powerpoint/2010/main" val="2724300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4076-79A9-2072-7CC7-15129CB7DC99}"/>
              </a:ext>
            </a:extLst>
          </p:cNvPr>
          <p:cNvSpPr>
            <a:spLocks noGrp="1"/>
          </p:cNvSpPr>
          <p:nvPr>
            <p:ph type="title"/>
          </p:nvPr>
        </p:nvSpPr>
        <p:spPr/>
        <p:txBody>
          <a:bodyPr/>
          <a:lstStyle/>
          <a:p>
            <a:pPr marL="571500" indent="-57150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Algorithm</a:t>
            </a:r>
            <a:endParaRPr lang="en-IN" dirty="0"/>
          </a:p>
        </p:txBody>
      </p:sp>
      <p:sp>
        <p:nvSpPr>
          <p:cNvPr id="4" name="Rectangle 1">
            <a:extLst>
              <a:ext uri="{FF2B5EF4-FFF2-40B4-BE49-F238E27FC236}">
                <a16:creationId xmlns:a16="http://schemas.microsoft.com/office/drawing/2014/main" id="{67B2DE38-DDCD-5925-B3B2-8DE1FC15F2E1}"/>
              </a:ext>
            </a:extLst>
          </p:cNvPr>
          <p:cNvSpPr>
            <a:spLocks noGrp="1" noChangeArrowheads="1"/>
          </p:cNvSpPr>
          <p:nvPr>
            <p:ph idx="1"/>
          </p:nvPr>
        </p:nvSpPr>
        <p:spPr bwMode="auto">
          <a:xfrm>
            <a:off x="838200" y="1073426"/>
            <a:ext cx="9269361" cy="4999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buNone/>
            </a:pPr>
            <a:r>
              <a:rPr lang="en-US" sz="2400" b="1" dirty="0">
                <a:latin typeface="Times New Roman" panose="02020603050405020304" pitchFamily="18" charset="0"/>
                <a:cs typeface="Times New Roman" panose="02020603050405020304" pitchFamily="18" charset="0"/>
              </a:rPr>
              <a:t>Step 6:</a:t>
            </a:r>
            <a:r>
              <a:rPr lang="en-US" sz="2400" dirty="0">
                <a:latin typeface="Times New Roman" panose="02020603050405020304" pitchFamily="18" charset="0"/>
                <a:cs typeface="Times New Roman" panose="02020603050405020304" pitchFamily="18" charset="0"/>
              </a:rPr>
              <a:t> GenAI analyzes the input and returns the </a:t>
            </a:r>
            <a:r>
              <a:rPr lang="en-US" sz="2400" b="1" dirty="0">
                <a:latin typeface="Times New Roman" panose="02020603050405020304" pitchFamily="18" charset="0"/>
                <a:cs typeface="Times New Roman" panose="02020603050405020304" pitchFamily="18" charset="0"/>
              </a:rPr>
              <a:t>best execution node</a:t>
            </a:r>
            <a:r>
              <a:rPr lang="en-US" sz="2400" dirty="0">
                <a:latin typeface="Times New Roman" panose="02020603050405020304" pitchFamily="18" charset="0"/>
                <a:cs typeface="Times New Roman" panose="02020603050405020304" pitchFamily="18" charset="0"/>
              </a:rPr>
              <a:t> (Space or Ground).</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7:</a:t>
            </a:r>
            <a:r>
              <a:rPr lang="en-US" sz="2400" dirty="0">
                <a:latin typeface="Times New Roman" panose="02020603050405020304" pitchFamily="18" charset="0"/>
                <a:cs typeface="Times New Roman" panose="02020603050405020304" pitchFamily="18" charset="0"/>
              </a:rPr>
              <a:t> Validate AI decision using mathematical rules or Genetic Algorithm.</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8:</a:t>
            </a:r>
            <a:r>
              <a:rPr lang="en-US" sz="2400" dirty="0">
                <a:latin typeface="Times New Roman" panose="02020603050405020304" pitchFamily="18" charset="0"/>
                <a:cs typeface="Times New Roman" panose="02020603050405020304" pitchFamily="18" charset="0"/>
              </a:rPr>
              <a:t> Store task and decision in the database.</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9:</a:t>
            </a:r>
            <a:r>
              <a:rPr lang="en-US" sz="2400" dirty="0">
                <a:latin typeface="Times New Roman" panose="02020603050405020304" pitchFamily="18" charset="0"/>
                <a:cs typeface="Times New Roman" panose="02020603050405020304" pitchFamily="18" charset="0"/>
              </a:rPr>
              <a:t> Display result on dashboard (pie chart, table, etc.).</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Step 10:</a:t>
            </a:r>
            <a:r>
              <a:rPr lang="en-US" sz="2400" dirty="0">
                <a:latin typeface="Times New Roman" panose="02020603050405020304" pitchFamily="18" charset="0"/>
                <a:cs typeface="Times New Roman" panose="02020603050405020304" pitchFamily="18" charset="0"/>
              </a:rPr>
              <a:t> End</a:t>
            </a:r>
            <a:br>
              <a:rPr lang="en-US" dirty="0">
                <a:latin typeface="Times New Roman" panose="02020603050405020304" pitchFamily="18" charset="0"/>
                <a:ea typeface="Calibri" panose="020F0502020204030204" pitchFamily="34" charset="0"/>
                <a:cs typeface="Times New Roman" panose="02020603050405020304" pitchFamily="18" charset="0"/>
              </a:rPr>
            </a:br>
            <a:endPar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6075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C7E7-0144-A5CD-F6F4-276AC4EDB6E3}"/>
              </a:ext>
            </a:extLst>
          </p:cNvPr>
          <p:cNvSpPr>
            <a:spLocks noGrp="1"/>
          </p:cNvSpPr>
          <p:nvPr>
            <p:ph type="title"/>
          </p:nvPr>
        </p:nvSpPr>
        <p:spPr>
          <a:xfrm>
            <a:off x="838200" y="306131"/>
            <a:ext cx="10515600" cy="1325563"/>
          </a:xfrm>
        </p:spPr>
        <p:txBody>
          <a:bodyPr/>
          <a:lstStyle/>
          <a:p>
            <a:pPr marL="571500" indent="-5715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UML Class Diagram</a:t>
            </a:r>
          </a:p>
        </p:txBody>
      </p:sp>
      <p:pic>
        <p:nvPicPr>
          <p:cNvPr id="7" name="Content Placeholder 6">
            <a:extLst>
              <a:ext uri="{FF2B5EF4-FFF2-40B4-BE49-F238E27FC236}">
                <a16:creationId xmlns:a16="http://schemas.microsoft.com/office/drawing/2014/main" id="{45683907-42EB-7911-0DA9-26F6F869BBF0}"/>
              </a:ext>
            </a:extLst>
          </p:cNvPr>
          <p:cNvPicPr>
            <a:picLocks noGrp="1" noChangeAspect="1"/>
          </p:cNvPicPr>
          <p:nvPr>
            <p:ph idx="1"/>
          </p:nvPr>
        </p:nvPicPr>
        <p:blipFill>
          <a:blip r:embed="rId2"/>
          <a:stretch>
            <a:fillRect/>
          </a:stretch>
        </p:blipFill>
        <p:spPr>
          <a:xfrm>
            <a:off x="2851508" y="1477937"/>
            <a:ext cx="5191125" cy="4181475"/>
          </a:xfrm>
        </p:spPr>
      </p:pic>
    </p:spTree>
    <p:extLst>
      <p:ext uri="{BB962C8B-B14F-4D97-AF65-F5344CB8AC3E}">
        <p14:creationId xmlns:p14="http://schemas.microsoft.com/office/powerpoint/2010/main" val="1912592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5F1F-3420-C7CE-0251-AF693BC2BE9A}"/>
              </a:ext>
            </a:extLst>
          </p:cNvPr>
          <p:cNvSpPr>
            <a:spLocks noGrp="1"/>
          </p:cNvSpPr>
          <p:nvPr>
            <p:ph type="title"/>
          </p:nvPr>
        </p:nvSpPr>
        <p:spPr/>
        <p:txBody>
          <a:bodyPr/>
          <a:lstStyle/>
          <a:p>
            <a:pPr marL="571500" indent="-5715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UML Sequence Diagram</a:t>
            </a:r>
          </a:p>
        </p:txBody>
      </p:sp>
      <p:pic>
        <p:nvPicPr>
          <p:cNvPr id="7" name="Content Placeholder 6">
            <a:extLst>
              <a:ext uri="{FF2B5EF4-FFF2-40B4-BE49-F238E27FC236}">
                <a16:creationId xmlns:a16="http://schemas.microsoft.com/office/drawing/2014/main" id="{91605656-DD27-ADD9-6EE0-FB7983103182}"/>
              </a:ext>
            </a:extLst>
          </p:cNvPr>
          <p:cNvPicPr>
            <a:picLocks noGrp="1" noChangeAspect="1"/>
          </p:cNvPicPr>
          <p:nvPr>
            <p:ph idx="1"/>
          </p:nvPr>
        </p:nvPicPr>
        <p:blipFill>
          <a:blip r:embed="rId2"/>
          <a:stretch>
            <a:fillRect/>
          </a:stretch>
        </p:blipFill>
        <p:spPr>
          <a:xfrm>
            <a:off x="1455175" y="1540489"/>
            <a:ext cx="7728910" cy="4351338"/>
          </a:xfrm>
        </p:spPr>
      </p:pic>
    </p:spTree>
    <p:extLst>
      <p:ext uri="{BB962C8B-B14F-4D97-AF65-F5344CB8AC3E}">
        <p14:creationId xmlns:p14="http://schemas.microsoft.com/office/powerpoint/2010/main" val="3742440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FEA6F-916C-7557-6D27-03ECF6D77717}"/>
              </a:ext>
            </a:extLst>
          </p:cNvPr>
          <p:cNvSpPr>
            <a:spLocks noGrp="1"/>
          </p:cNvSpPr>
          <p:nvPr>
            <p:ph type="title"/>
          </p:nvPr>
        </p:nvSpPr>
        <p:spPr>
          <a:xfrm>
            <a:off x="130278" y="217640"/>
            <a:ext cx="10515600" cy="1325563"/>
          </a:xfrm>
        </p:spPr>
        <p:txBody>
          <a:bodyPr/>
          <a:lstStyle/>
          <a:p>
            <a:pPr marL="571500" indent="-57150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UML Use Case Diagram</a:t>
            </a:r>
            <a:br>
              <a:rPr lang="en-US" dirty="0">
                <a:latin typeface="Times New Roman" panose="02020603050405020304" pitchFamily="18" charset="0"/>
                <a:cs typeface="Times New Roman" panose="02020603050405020304" pitchFamily="18" charset="0"/>
              </a:rPr>
            </a:br>
            <a:endParaRPr lang="en-IN" dirty="0"/>
          </a:p>
        </p:txBody>
      </p:sp>
      <p:pic>
        <p:nvPicPr>
          <p:cNvPr id="7" name="Content Placeholder 6">
            <a:extLst>
              <a:ext uri="{FF2B5EF4-FFF2-40B4-BE49-F238E27FC236}">
                <a16:creationId xmlns:a16="http://schemas.microsoft.com/office/drawing/2014/main" id="{161A47A8-8EA7-38B2-180E-6A2A7A1BB805}"/>
              </a:ext>
            </a:extLst>
          </p:cNvPr>
          <p:cNvPicPr>
            <a:picLocks noGrp="1" noChangeAspect="1"/>
          </p:cNvPicPr>
          <p:nvPr>
            <p:ph idx="1"/>
          </p:nvPr>
        </p:nvPicPr>
        <p:blipFill>
          <a:blip r:embed="rId2"/>
          <a:stretch>
            <a:fillRect/>
          </a:stretch>
        </p:blipFill>
        <p:spPr>
          <a:xfrm>
            <a:off x="2281085" y="979180"/>
            <a:ext cx="6685934" cy="4899640"/>
          </a:xfrm>
        </p:spPr>
      </p:pic>
    </p:spTree>
    <p:extLst>
      <p:ext uri="{BB962C8B-B14F-4D97-AF65-F5344CB8AC3E}">
        <p14:creationId xmlns:p14="http://schemas.microsoft.com/office/powerpoint/2010/main" val="3373685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F5304-F975-6A09-72AC-CB2532D96404}"/>
              </a:ext>
            </a:extLst>
          </p:cNvPr>
          <p:cNvSpPr>
            <a:spLocks noGrp="1"/>
          </p:cNvSpPr>
          <p:nvPr>
            <p:ph type="title"/>
          </p:nvPr>
        </p:nvSpPr>
        <p:spPr>
          <a:xfrm>
            <a:off x="51619" y="394621"/>
            <a:ext cx="10515600" cy="1325563"/>
          </a:xfrm>
        </p:spPr>
        <p:txBody>
          <a:bodyPr/>
          <a:lstStyle/>
          <a:p>
            <a:pPr marL="571500" indent="-571500">
              <a:buFont typeface="Wingdings" panose="05000000000000000000" pitchFamily="2" charset="2"/>
              <a:buChar char="v"/>
            </a:pPr>
            <a:r>
              <a:rPr lang="en-US" b="1" dirty="0" err="1">
                <a:latin typeface="Times New Roman" panose="02020603050405020304" pitchFamily="18" charset="0"/>
                <a:cs typeface="Times New Roman" panose="02020603050405020304" pitchFamily="18" charset="0"/>
              </a:rPr>
              <a:t>Uml</a:t>
            </a:r>
            <a:r>
              <a:rPr lang="en-US" b="1" dirty="0">
                <a:latin typeface="Times New Roman" panose="02020603050405020304" pitchFamily="18" charset="0"/>
                <a:cs typeface="Times New Roman" panose="02020603050405020304" pitchFamily="18" charset="0"/>
              </a:rPr>
              <a:t> Activity Diagram</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1D7F1F7-7FCD-2CB1-3B17-655D7B039AFA}"/>
              </a:ext>
            </a:extLst>
          </p:cNvPr>
          <p:cNvPicPr>
            <a:picLocks noGrp="1" noChangeAspect="1"/>
          </p:cNvPicPr>
          <p:nvPr>
            <p:ph idx="1"/>
          </p:nvPr>
        </p:nvPicPr>
        <p:blipFill>
          <a:blip r:embed="rId2"/>
          <a:stretch>
            <a:fillRect/>
          </a:stretch>
        </p:blipFill>
        <p:spPr>
          <a:xfrm>
            <a:off x="3372464" y="1520825"/>
            <a:ext cx="3873910" cy="4351338"/>
          </a:xfrm>
        </p:spPr>
      </p:pic>
    </p:spTree>
    <p:extLst>
      <p:ext uri="{BB962C8B-B14F-4D97-AF65-F5344CB8AC3E}">
        <p14:creationId xmlns:p14="http://schemas.microsoft.com/office/powerpoint/2010/main" val="3664867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496D-AFE3-0F2D-C07C-7D577BD309E0}"/>
              </a:ext>
            </a:extLst>
          </p:cNvPr>
          <p:cNvSpPr>
            <a:spLocks noGrp="1"/>
          </p:cNvSpPr>
          <p:nvPr>
            <p:ph type="title"/>
          </p:nvPr>
        </p:nvSpPr>
        <p:spPr>
          <a:xfrm>
            <a:off x="663022" y="49161"/>
            <a:ext cx="12192000" cy="1240325"/>
          </a:xfrm>
        </p:spPr>
        <p:txBody>
          <a:bodyPr>
            <a:normAutofit/>
          </a:bodyPr>
          <a:lstStyle/>
          <a:p>
            <a:pPr marL="571500" indent="-571500">
              <a:buFont typeface="Wingdings" panose="05000000000000000000" pitchFamily="2" charset="2"/>
              <a:buChar char="v"/>
            </a:pPr>
            <a:r>
              <a:rPr lang="en-US" sz="4000" b="1" dirty="0">
                <a:latin typeface="Arimo Bold"/>
                <a:cs typeface="Times New Roman" panose="02020603050405020304" pitchFamily="18" charset="0"/>
              </a:rPr>
              <a:t>References</a:t>
            </a:r>
          </a:p>
        </p:txBody>
      </p:sp>
      <p:sp>
        <p:nvSpPr>
          <p:cNvPr id="4" name="Rectangle 1">
            <a:extLst>
              <a:ext uri="{FF2B5EF4-FFF2-40B4-BE49-F238E27FC236}">
                <a16:creationId xmlns:a16="http://schemas.microsoft.com/office/drawing/2014/main" id="{591665E1-0792-1409-7111-684E806297F5}"/>
              </a:ext>
            </a:extLst>
          </p:cNvPr>
          <p:cNvSpPr>
            <a:spLocks noGrp="1" noChangeArrowheads="1"/>
          </p:cNvSpPr>
          <p:nvPr>
            <p:ph idx="1"/>
          </p:nvPr>
        </p:nvSpPr>
        <p:spPr bwMode="auto">
          <a:xfrm>
            <a:off x="663022" y="1154260"/>
            <a:ext cx="10612120" cy="5114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1500" dirty="0"/>
              <a:t>[1] Gupta, R. P. (2025). </a:t>
            </a:r>
            <a:r>
              <a:rPr lang="en-US" sz="1500" i="1" dirty="0"/>
              <a:t>How Generative AI Can Revolutionize Project Scheduling</a:t>
            </a:r>
            <a:r>
              <a:rPr lang="en-US" sz="1500" dirty="0"/>
              <a:t>. </a:t>
            </a:r>
            <a:r>
              <a:rPr lang="en-US" sz="1500" b="1" dirty="0" err="1"/>
              <a:t>INDIAai</a:t>
            </a:r>
            <a:r>
              <a:rPr lang="en-US" sz="1500" dirty="0"/>
              <a:t>. (Section: Conceptual Overview of </a:t>
            </a:r>
            <a:r>
              <a:rPr lang="en-US" sz="1500" dirty="0" err="1"/>
              <a:t>GenAI</a:t>
            </a:r>
            <a:r>
              <a:rPr lang="en-US" sz="1500" dirty="0"/>
              <a:t> in Scheduling)</a:t>
            </a:r>
          </a:p>
          <a:p>
            <a:pPr>
              <a:buNone/>
            </a:pPr>
            <a:r>
              <a:rPr lang="en-US" sz="1500" dirty="0"/>
              <a:t>[2] </a:t>
            </a:r>
            <a:r>
              <a:rPr lang="en-US" sz="1500" dirty="0" err="1"/>
              <a:t>Jaimes</a:t>
            </a:r>
            <a:r>
              <a:rPr lang="en-US" sz="1500" dirty="0"/>
              <a:t>, A. L., &amp; </a:t>
            </a:r>
            <a:r>
              <a:rPr lang="en-US" sz="1500" dirty="0" err="1"/>
              <a:t>Coello</a:t>
            </a:r>
            <a:r>
              <a:rPr lang="en-US" sz="1500" dirty="0"/>
              <a:t> </a:t>
            </a:r>
            <a:r>
              <a:rPr lang="en-US" sz="1500" dirty="0" err="1"/>
              <a:t>Coello</a:t>
            </a:r>
            <a:r>
              <a:rPr lang="en-US" sz="1500" dirty="0"/>
              <a:t>, C. A. (2025). </a:t>
            </a:r>
            <a:r>
              <a:rPr lang="en-US" sz="1500" i="1" dirty="0"/>
              <a:t>Multi-Objective Evolutionary Algorithms: A Review of the State-of-the-Art</a:t>
            </a:r>
            <a:r>
              <a:rPr lang="en-US" sz="1500" dirty="0"/>
              <a:t>. (Section: Review of Search Strategies)</a:t>
            </a:r>
          </a:p>
          <a:p>
            <a:pPr>
              <a:buNone/>
            </a:pPr>
            <a:r>
              <a:rPr lang="en-US" sz="1500" dirty="0"/>
              <a:t>[3] Huynh, C. (2025). </a:t>
            </a:r>
            <a:r>
              <a:rPr lang="en-US" sz="1500" i="1" dirty="0"/>
              <a:t>AI on the Edge of Space: Securing Space Superiority and Avoiding Surprise in Orbit</a:t>
            </a:r>
            <a:r>
              <a:rPr lang="en-US" sz="1500" dirty="0"/>
              <a:t>. </a:t>
            </a:r>
            <a:r>
              <a:rPr lang="en-US" sz="1500" b="1" dirty="0"/>
              <a:t>CSET</a:t>
            </a:r>
            <a:r>
              <a:rPr lang="en-US" sz="1500" dirty="0"/>
              <a:t>. (Section: Onboard AI Agents and </a:t>
            </a:r>
            <a:r>
              <a:rPr lang="en-US" sz="1500" dirty="0" err="1"/>
              <a:t>Explainability</a:t>
            </a:r>
            <a:r>
              <a:rPr lang="en-US" sz="1500" dirty="0"/>
              <a:t>)</a:t>
            </a:r>
          </a:p>
          <a:p>
            <a:pPr>
              <a:buNone/>
            </a:pPr>
            <a:r>
              <a:rPr lang="en-US" sz="1500" dirty="0"/>
              <a:t>[4] Pratt, T., </a:t>
            </a:r>
            <a:r>
              <a:rPr lang="en-US" sz="1500" dirty="0" err="1"/>
              <a:t>Bostian</a:t>
            </a:r>
            <a:r>
              <a:rPr lang="en-US" sz="1500" dirty="0"/>
              <a:t>, C., &amp; </a:t>
            </a:r>
            <a:r>
              <a:rPr lang="en-US" sz="1500" dirty="0" err="1"/>
              <a:t>Allnutt</a:t>
            </a:r>
            <a:r>
              <a:rPr lang="en-US" sz="1500" dirty="0"/>
              <a:t>, J. (2021). </a:t>
            </a:r>
            <a:r>
              <a:rPr lang="en-US" sz="1500" i="1" dirty="0"/>
              <a:t>Satellite Communications</a:t>
            </a:r>
            <a:r>
              <a:rPr lang="en-US" sz="1500" dirty="0"/>
              <a:t>. (Chapter 2: Orbital Mechanics and Launchers)</a:t>
            </a:r>
          </a:p>
          <a:p>
            <a:pPr>
              <a:buNone/>
            </a:pPr>
            <a:r>
              <a:rPr lang="en-US" sz="1500" dirty="0"/>
              <a:t>[5] </a:t>
            </a:r>
            <a:r>
              <a:rPr lang="en-US" sz="1500" dirty="0" err="1"/>
              <a:t>Pelton</a:t>
            </a:r>
            <a:r>
              <a:rPr lang="en-US" sz="1500" dirty="0"/>
              <a:t>, J. N. (2024). </a:t>
            </a:r>
            <a:r>
              <a:rPr lang="en-US" sz="1500" i="1" dirty="0"/>
              <a:t>The New Space Race</a:t>
            </a:r>
            <a:r>
              <a:rPr lang="en-US" sz="1500" dirty="0"/>
              <a:t>. (Section: Thematic Takeaways for Space Policy and Strategy)</a:t>
            </a:r>
          </a:p>
          <a:p>
            <a:pPr>
              <a:buNone/>
            </a:pPr>
            <a:r>
              <a:rPr lang="en-US" sz="1500" dirty="0"/>
              <a:t>[6] </a:t>
            </a:r>
            <a:r>
              <a:rPr lang="en-US" sz="1500" dirty="0" err="1"/>
              <a:t>Maral</a:t>
            </a:r>
            <a:r>
              <a:rPr lang="en-US" sz="1500" dirty="0"/>
              <a:t>, G., &amp; </a:t>
            </a:r>
            <a:r>
              <a:rPr lang="en-US" sz="1500" dirty="0" err="1"/>
              <a:t>Bousquet</a:t>
            </a:r>
            <a:r>
              <a:rPr lang="en-US" sz="1500" dirty="0"/>
              <a:t>, M. (2022). </a:t>
            </a:r>
            <a:r>
              <a:rPr lang="en-US" sz="1500" i="1" dirty="0"/>
              <a:t>Satellite Communications Systems</a:t>
            </a:r>
            <a:r>
              <a:rPr lang="en-US" sz="1500" dirty="0"/>
              <a:t>. (Chapter 1: Introduction to Link Analysis)</a:t>
            </a:r>
          </a:p>
          <a:p>
            <a:pPr>
              <a:buNone/>
            </a:pPr>
            <a:r>
              <a:rPr lang="en-US" sz="1500" dirty="0"/>
              <a:t>[7] Shi, Y., et al. (2025). </a:t>
            </a:r>
            <a:r>
              <a:rPr lang="en-US" sz="1500" i="1" dirty="0"/>
              <a:t>Satellite Edge Artificial Intelligence with Large Models: Architectures and Technologies</a:t>
            </a:r>
            <a:r>
              <a:rPr lang="en-US" sz="1500" dirty="0"/>
              <a:t>. </a:t>
            </a:r>
            <a:r>
              <a:rPr lang="en-US" sz="1500" b="1" dirty="0" err="1"/>
              <a:t>arXiv</a:t>
            </a:r>
            <a:r>
              <a:rPr lang="en-US" sz="1500" dirty="0"/>
              <a:t>. (Section: Onboard Data Processing and Distributed Processing)</a:t>
            </a:r>
          </a:p>
          <a:p>
            <a:pPr>
              <a:buNone/>
            </a:pPr>
            <a:r>
              <a:rPr lang="en-US" sz="1500" dirty="0"/>
              <a:t>[8] </a:t>
            </a:r>
            <a:r>
              <a:rPr lang="en-US" sz="1500" dirty="0" err="1"/>
              <a:t>Utsav</a:t>
            </a:r>
            <a:r>
              <a:rPr lang="en-US" sz="1500" dirty="0"/>
              <a:t>, A. P., &amp; </a:t>
            </a:r>
            <a:r>
              <a:rPr lang="en-US" sz="1500" dirty="0" err="1"/>
              <a:t>Álvarez</a:t>
            </a:r>
            <a:r>
              <a:rPr lang="en-US" sz="1500" dirty="0"/>
              <a:t>, R. R. (2025). </a:t>
            </a:r>
            <a:r>
              <a:rPr lang="en-US" sz="1500" i="1" dirty="0"/>
              <a:t>Space Edge Computing for Satellite Systems: Definition and Key Enabling Technologies</a:t>
            </a:r>
            <a:r>
              <a:rPr lang="en-US" sz="1500" dirty="0"/>
              <a:t>. </a:t>
            </a:r>
            <a:r>
              <a:rPr lang="en-US" sz="1500" b="1" dirty="0" err="1"/>
              <a:t>ResearchGate</a:t>
            </a:r>
            <a:r>
              <a:rPr lang="en-US" sz="1500" dirty="0"/>
              <a:t>. (Section: Definition and Key Enabling Technologies)</a:t>
            </a:r>
          </a:p>
          <a:p>
            <a:pPr>
              <a:buNone/>
            </a:pPr>
            <a:r>
              <a:rPr lang="en-US" sz="1500" dirty="0"/>
              <a:t>[9] Chen, S., et al. (2024). </a:t>
            </a:r>
            <a:r>
              <a:rPr lang="en-US" sz="1500" i="1" dirty="0"/>
              <a:t>AI and Edge Computing: Synergistic Approaches for Real-time Data Processing in Cloud Environments</a:t>
            </a:r>
            <a:r>
              <a:rPr lang="en-US" sz="1500" dirty="0"/>
              <a:t>. </a:t>
            </a:r>
            <a:r>
              <a:rPr lang="en-US" sz="1500" b="1" dirty="0"/>
              <a:t>IRE Journals</a:t>
            </a:r>
            <a:r>
              <a:rPr lang="en-US" sz="1500" dirty="0"/>
              <a:t>. (Section: Synergistic  Approaches)</a:t>
            </a:r>
          </a:p>
          <a:p>
            <a:pPr>
              <a:buNone/>
            </a:pPr>
            <a:r>
              <a:rPr lang="en-US" sz="1500" dirty="0"/>
              <a:t>[10] Kumar, B. P. N., &amp; </a:t>
            </a:r>
            <a:r>
              <a:rPr lang="en-US" sz="1500" dirty="0" err="1"/>
              <a:t>Venkatesha</a:t>
            </a:r>
            <a:r>
              <a:rPr lang="en-US" sz="1500" dirty="0"/>
              <a:t>, M. G. (2025). </a:t>
            </a:r>
            <a:r>
              <a:rPr lang="en-US" sz="1500" i="1" dirty="0"/>
              <a:t>A Review of Dynamic Scheduling Algorithms for Homogeneous and Heterogeneous Systems</a:t>
            </a:r>
            <a:r>
              <a:rPr lang="en-US" sz="1500" dirty="0"/>
              <a:t>. </a:t>
            </a:r>
            <a:r>
              <a:rPr lang="en-US" sz="1500" b="1" dirty="0" err="1"/>
              <a:t>ResearchGate</a:t>
            </a:r>
            <a:r>
              <a:rPr lang="en-US" sz="1500" dirty="0"/>
              <a:t>. (Section:  Review of Dynamic Scheduling)</a:t>
            </a:r>
          </a:p>
          <a:p>
            <a:pPr>
              <a:buNone/>
            </a:pPr>
            <a:endParaRPr lang="en-US" sz="1500" dirty="0">
              <a:latin typeface="Times New Roman" pitchFamily="18" charset="0"/>
              <a:cs typeface="Times New Roman" pitchFamily="18" charset="0"/>
            </a:endParaRPr>
          </a:p>
        </p:txBody>
      </p:sp>
    </p:spTree>
    <p:extLst>
      <p:ext uri="{BB962C8B-B14F-4D97-AF65-F5344CB8AC3E}">
        <p14:creationId xmlns:p14="http://schemas.microsoft.com/office/powerpoint/2010/main" val="4069928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496D-AFE3-0F2D-C07C-7D577BD309E0}"/>
              </a:ext>
            </a:extLst>
          </p:cNvPr>
          <p:cNvSpPr>
            <a:spLocks noGrp="1"/>
          </p:cNvSpPr>
          <p:nvPr>
            <p:ph type="title"/>
          </p:nvPr>
        </p:nvSpPr>
        <p:spPr>
          <a:xfrm>
            <a:off x="625250" y="403082"/>
            <a:ext cx="3747003" cy="1240325"/>
          </a:xfrm>
        </p:spPr>
        <p:txBody>
          <a:bodyPr>
            <a:normAutofit/>
          </a:bodyPr>
          <a:lstStyle/>
          <a:p>
            <a:pPr marL="571500" indent="-571500">
              <a:buFont typeface="Wingdings" panose="05000000000000000000" pitchFamily="2" charset="2"/>
              <a:buChar char="v"/>
            </a:pPr>
            <a:r>
              <a:rPr lang="en-US" sz="40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591665E1-0792-1409-7111-684E806297F5}"/>
              </a:ext>
            </a:extLst>
          </p:cNvPr>
          <p:cNvSpPr>
            <a:spLocks noGrp="1" noChangeArrowheads="1"/>
          </p:cNvSpPr>
          <p:nvPr>
            <p:ph idx="1"/>
          </p:nvPr>
        </p:nvSpPr>
        <p:spPr bwMode="auto">
          <a:xfrm>
            <a:off x="954630" y="1643407"/>
            <a:ext cx="10612120" cy="3640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The AI-Powered Task Scheduler for Space–Ground Computing efficiently distributes satellite tasks between space and ground nodes using Gemini AI. It analyzes task parameters like compute, data size, and urgency to make intelligent decisions that optimize latency, power, and cost. The system demonstrates how Generative AI can enhance autonomous space operations, making future satellite missions more efficient and adaptive.</a:t>
            </a:r>
          </a:p>
        </p:txBody>
      </p:sp>
    </p:spTree>
    <p:extLst>
      <p:ext uri="{BB962C8B-B14F-4D97-AF65-F5344CB8AC3E}">
        <p14:creationId xmlns:p14="http://schemas.microsoft.com/office/powerpoint/2010/main" val="406992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496D-AFE3-0F2D-C07C-7D577BD309E0}"/>
              </a:ext>
            </a:extLst>
          </p:cNvPr>
          <p:cNvSpPr>
            <a:spLocks noGrp="1"/>
          </p:cNvSpPr>
          <p:nvPr>
            <p:ph type="title"/>
          </p:nvPr>
        </p:nvSpPr>
        <p:spPr>
          <a:xfrm>
            <a:off x="0" y="0"/>
            <a:ext cx="12192000" cy="5486400"/>
          </a:xfrm>
        </p:spPr>
        <p:txBody>
          <a:bodyPr>
            <a:normAutofit/>
          </a:bodyPr>
          <a:lstStyle/>
          <a:p>
            <a:r>
              <a:rPr lang="en-US" sz="4000" b="1" dirty="0">
                <a:latin typeface="Times New Roman" panose="02020603050405020304" pitchFamily="18" charset="0"/>
                <a:cs typeface="Times New Roman" panose="02020603050405020304" pitchFamily="18" charset="0"/>
              </a:rPr>
              <a:t>                                 </a:t>
            </a:r>
            <a:r>
              <a:rPr lang="en-US" sz="6000" b="1" dirty="0">
                <a:latin typeface="Times New Roman" panose="02020603050405020304" pitchFamily="18" charset="0"/>
                <a:cs typeface="Times New Roman" panose="02020603050405020304" pitchFamily="18" charset="0"/>
              </a:rPr>
              <a:t>Thank You!</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9282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411</TotalTime>
  <Words>1135</Words>
  <Application>Microsoft Office PowerPoint</Application>
  <PresentationFormat>Widescreen</PresentationFormat>
  <Paragraphs>120</Paragraphs>
  <Slides>18</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Aptos</vt:lpstr>
      <vt:lpstr>Aptos Display</vt:lpstr>
      <vt:lpstr>Arial</vt:lpstr>
      <vt:lpstr>Arimo Bold</vt:lpstr>
      <vt:lpstr>Calibri</vt:lpstr>
      <vt:lpstr>Times New Roman</vt:lpstr>
      <vt:lpstr>TT Rounds Condensed</vt:lpstr>
      <vt:lpstr>Wingdings</vt:lpstr>
      <vt:lpstr>1_Office Theme</vt:lpstr>
      <vt:lpstr>Office Theme</vt:lpstr>
      <vt:lpstr>PowerPoint Presentation</vt:lpstr>
      <vt:lpstr>PowerPoint Presentation</vt:lpstr>
      <vt:lpstr>Problem Statement</vt:lpstr>
      <vt:lpstr>Objectives of Project</vt:lpstr>
      <vt:lpstr>Scope of the Project</vt:lpstr>
      <vt:lpstr>Literature Review</vt:lpstr>
      <vt:lpstr>Proposed Methodology</vt:lpstr>
      <vt:lpstr>System Architecture</vt:lpstr>
      <vt:lpstr>Tools &amp;Technologies</vt:lpstr>
      <vt:lpstr>Algorithm</vt:lpstr>
      <vt:lpstr>Algorithm</vt:lpstr>
      <vt:lpstr>UML Class Diagram</vt:lpstr>
      <vt:lpstr>UML Sequence Diagram</vt:lpstr>
      <vt:lpstr>UML Use Case Diagram </vt:lpstr>
      <vt:lpstr>Uml Activity Diagram</vt:lpstr>
      <vt:lpstr>References</vt:lpstr>
      <vt:lpstr>Conclusion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kundan chaudhari</cp:lastModifiedBy>
  <cp:revision>14</cp:revision>
  <dcterms:modified xsi:type="dcterms:W3CDTF">2025-10-09T04:53:17Z</dcterms:modified>
</cp:coreProperties>
</file>